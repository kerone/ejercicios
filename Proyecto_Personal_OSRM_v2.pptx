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0" r:id="rId21"/>
    <p:sldId id="281" r:id="rId22"/>
    <p:sldId id="282" r:id="rId23"/>
    <p:sldId id="283" r:id="rId24"/>
    <p:sldId id="284" r:id="rId25"/>
    <p:sldId id="271" r:id="rId13"/>
    <p:sldId id="272" r:id="rId14"/>
    <p:sldId id="274" r:id="rId1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3545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536186"/>
            <a:ext cx="115766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OPERATIVA DE REPARTO · COLMENAS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156332"/>
            <a:ext cx="11576685" cy="989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200" b="1" kern="0" spc="-13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Empezamos por el final.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066800" y="4472655"/>
            <a:ext cx="6874883" cy="32063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en </a:t>
            </a:r>
            <a:r>
              <a:rPr lang="en-US" sz="3150" i="1" dirty="0">
                <a:solidFill>
                  <a:srgbClr val="A82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Beauty </a:t>
            </a: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primero veremos el informe ya terminado. Luego rebobinamos para entender de dónde sale cada bloque, qué herramienta lo alimenta y qué decisiones lo construyen.</a:t>
            </a:r>
            <a:endParaRPr lang="en-US" sz="31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20813" y="8615063"/>
            <a:ext cx="742950" cy="533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616163" y="8753176"/>
            <a:ext cx="168123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REBOBINAR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INFORME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7357986" cy="1821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Empecemos por el final: la foto que llega cada mes.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973668"/>
            <a:ext cx="9364266" cy="4953000"/>
          </a:xfrm>
          <a:prstGeom prst="roundRect">
            <a:avLst>
              <a:gd name="adj" fmla="val 1154"/>
            </a:avLst>
          </a:prstGeom>
          <a:solidFill>
            <a:srgbClr val="FBFAF5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1040666" y="549994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entregable.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1040666" y="621811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final.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1040666" y="6936280"/>
            <a:ext cx="6365950" cy="508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850" b="1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 Rutinario.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354839"/>
            <a:ext cx="1079182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A82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PERO…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974985"/>
            <a:ext cx="10791825" cy="18607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900" b="1" kern="0" spc="-12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hemos llegado hasta aquí?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66800" y="5182120"/>
            <a:ext cx="5499922" cy="2678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bloque del informe procede de una fuente distinta y de decisiones tomadas con herramientas específicas. Rebobinamos.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RECORRIDO DEL DATO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 la palanca; de la palanca al papel.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que aparece en el informe ha pasado antes por aquí.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DECISIONES</a:t>
            </a:r>
            <a:endParaRPr lang="en-US" sz="1800" dirty="0"/>
          </a:p>
        </p:txBody>
      </p:sp>
      <p:sp>
        <p:nvSpPr>
          <p:cNvPr id="8" name="Text 8"/>
          <p:cNvSpPr/>
          <p:nvPr/>
        </p:nvSpPr>
        <p:spPr>
          <a:xfrm>
            <a:off x="1390650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+ visualización</a:t>
            </a:r>
            <a:endParaRPr lang="en-US" sz="2250" dirty="0"/>
          </a:p>
        </p:txBody>
      </p:sp>
      <p:sp>
        <p:nvSpPr>
          <p:cNvPr id="9" name="Text 9"/>
          <p:cNvSpPr/>
          <p:nvPr/>
        </p:nvSpPr>
        <p:spPr>
          <a:xfrm>
            <a:off x="1390650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Tablas, coordenadas y demanda, vistos en Metabase y sobre el mapa. Con estas dos patas se decide.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6841744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6841744" y="4621060"/>
            <a:ext cx="5089144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Text 12"/>
          <p:cNvSpPr/>
          <p:nvPr/>
        </p:nvSpPr>
        <p:spPr>
          <a:xfrm>
            <a:off x="7165594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ACCIONES</a:t>
            </a:r>
            <a:endParaRPr lang="en-US" sz="1800" dirty="0"/>
          </a:p>
        </p:txBody>
      </p:sp>
      <p:sp>
        <p:nvSpPr>
          <p:cNvPr id="13" name="Text 13"/>
          <p:cNvSpPr/>
          <p:nvPr/>
        </p:nvSpPr>
        <p:spPr>
          <a:xfrm>
            <a:off x="7165594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palancas</a:t>
            </a:r>
            <a:endParaRPr lang="en-US" sz="2250" dirty="0"/>
          </a:p>
        </p:txBody>
      </p:sp>
      <p:sp>
        <p:nvSpPr>
          <p:cNvPr id="14" name="Text 14"/>
          <p:cNvSpPr/>
          <p:nvPr/>
        </p:nvSpPr>
        <p:spPr>
          <a:xfrm>
            <a:off x="7165594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o bajar productividad · configurar áreas.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2616688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6"/>
          <p:cNvSpPr/>
          <p:nvPr/>
        </p:nvSpPr>
        <p:spPr>
          <a:xfrm>
            <a:off x="12616688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7" name="Text 17"/>
          <p:cNvSpPr/>
          <p:nvPr/>
        </p:nvSpPr>
        <p:spPr>
          <a:xfrm>
            <a:off x="12940538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INFORME</a:t>
            </a:r>
            <a:endParaRPr lang="en-US" sz="1800" dirty="0"/>
          </a:p>
        </p:txBody>
      </p:sp>
      <p:sp>
        <p:nvSpPr>
          <p:cNvPr id="18" name="Text 18"/>
          <p:cNvSpPr/>
          <p:nvPr/>
        </p:nvSpPr>
        <p:spPr>
          <a:xfrm>
            <a:off x="12940538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Plasmar los cambios</a:t>
            </a:r>
            <a:endParaRPr lang="en-US" sz="2250" dirty="0"/>
          </a:p>
        </p:txBody>
      </p:sp>
      <p:sp>
        <p:nvSpPr>
          <p:cNvPr id="19" name="Text 19"/>
          <p:cNvSpPr/>
          <p:nvPr/>
        </p:nvSpPr>
        <p:spPr>
          <a:xfrm>
            <a:off x="12940538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que poner al día: deja constancia de los movimientos del mes y de su porqué.</a:t>
            </a:r>
            <a:endParaRPr lang="en-US" sz="1800" dirty="0"/>
          </a:p>
        </p:txBody>
      </p:sp>
      <p:sp>
        <p:nvSpPr>
          <p:cNvPr id="20" name="Text 20"/>
          <p:cNvSpPr/>
          <p:nvPr/>
        </p:nvSpPr>
        <p:spPr>
          <a:xfrm>
            <a:off x="6117844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1" name="Text 21"/>
          <p:cNvSpPr/>
          <p:nvPr/>
        </p:nvSpPr>
        <p:spPr>
          <a:xfrm>
            <a:off x="11892788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2" name="Shape 22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3" name="Shape 23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Shape 24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5" name="Shape 25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6" name="Shape 26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7" name="Shape 27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SEGUIR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una operativa?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566706"/>
            <a:ext cx="4683249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66800" y="2566706"/>
            <a:ext cx="4683249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90650" y="2938181"/>
            <a:ext cx="415661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90650" y="3547781"/>
            <a:ext cx="41566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Agrupación de CPs (ej. Embajadores, Chamartín, Jerez)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54849" y="2566706"/>
            <a:ext cx="4426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6802338" y="2566706"/>
            <a:ext cx="4683323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6802338" y="2566706"/>
            <a:ext cx="4683323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126188" y="2938181"/>
            <a:ext cx="415669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7126188" y="3547781"/>
            <a:ext cx="4156692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Franja horaria (morning · afternoon · bridge)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790462" y="2566706"/>
            <a:ext cx="442689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12537951" y="2566706"/>
            <a:ext cx="4683249" cy="1954113"/>
          </a:xfrm>
          <a:prstGeom prst="roundRect">
            <a:avLst>
              <a:gd name="adj" fmla="val 4874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12537951" y="2566706"/>
            <a:ext cx="4683249" cy="476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12861801" y="2938181"/>
            <a:ext cx="415661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COLMENA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861801" y="3547781"/>
            <a:ext cx="41566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Centro de origen (VLC1, SVQ1, MAD1, BCN1…)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66800" y="5038062"/>
            <a:ext cx="57150" cy="1000125"/>
          </a:xfrm>
          <a:prstGeom prst="rect">
            <a:avLst/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1390650" y="5323812"/>
            <a:ext cx="15991332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</a:t>
            </a: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MAD1 · Embajadores · morning. </a:t>
            </a:r>
            <a:r>
              <a:rPr lang="en-US" sz="22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Otra distinta sería MAD1 · Embajadores · afternoon.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4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4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127921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1 · PRODUCTIVIDAD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709793"/>
            <a:ext cx="16639032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800" b="1" kern="0" spc="-234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Retrasos por colmena.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66800" y="6054465"/>
            <a:ext cx="7857031" cy="1032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Detectar, profundizar, entender la causa. Sin esto, no hay ajuste de productividad que valga.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4935126" y="876300"/>
            <a:ext cx="236227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F4F1EA">
                    <a:alpha val="1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VISTA GLOBAL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dashboard de Metabase, de un vistazo.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283912"/>
            <a:ext cx="8570565" cy="5143500"/>
          </a:xfrm>
          <a:prstGeom prst="roundRect">
            <a:avLst>
              <a:gd name="adj" fmla="val 1111"/>
            </a:avLst>
          </a:prstGeom>
          <a:solidFill>
            <a:srgbClr val="FBFAF5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208865" y="3866942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0208865" y="4205080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0860435" y="4166980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Evolución semanal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860435" y="4557505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colmena frente a la línea de alerta del 3 %.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208865" y="5189950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208865" y="5528088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860435" y="5489988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retrasos del mes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0860435" y="5880513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Agregado del periodo, colmena a colmena.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208865" y="7835965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10208865" y="6512958"/>
            <a:ext cx="7012335" cy="14288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10208865" y="6851095"/>
            <a:ext cx="442020" cy="7372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spc="9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0860435" y="6812995"/>
            <a:ext cx="655158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Comparativa histórica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860435" y="7203520"/>
            <a:ext cx="6551588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al mes anterior y al año anterior.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1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DETECCIÓN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que dispara la revisión.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714954"/>
            <a:ext cx="8662392" cy="495300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4288">
            <a:solidFill>
              <a:srgbClr val="CFC7B5"/>
            </a:solidFill>
            <a:prstDash val="solid"/>
          </a:ln>
          <a:effectLst>
            <a:outerShdw blurRad="381000" dist="171450" dir="5400000" algn="bl" rotWithShape="0">
              <a:srgbClr val="14251C">
                <a:alpha val="45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10414992" y="29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14992" y="3319458"/>
            <a:ext cx="7010394" cy="94944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800" b="1" kern="0" spc="-312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&gt;3 %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10414992" y="4345107"/>
            <a:ext cx="340471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pedidos llegando tarde frente al objetivo del 3 %.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14992" y="5404168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VENTANA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0414992" y="5713730"/>
            <a:ext cx="656630" cy="1119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7800" b="1" kern="0" spc="-312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800" dirty="0"/>
          </a:p>
        </p:txBody>
      </p:sp>
      <p:sp>
        <p:nvSpPr>
          <p:cNvPr id="10" name="Text 8"/>
          <p:cNvSpPr/>
          <p:nvPr/>
        </p:nvSpPr>
        <p:spPr>
          <a:xfrm>
            <a:off x="10995422" y="6199505"/>
            <a:ext cx="2067892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semanas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10414992" y="6825104"/>
            <a:ext cx="3404713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completas y consecutivas. Cronicidad, no picos.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8040"/>
            </a:avLst>
          </a:prstGeom>
          <a:solidFill>
            <a:srgbClr val="ECE7D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447800" y="8638426"/>
            <a:ext cx="15934182" cy="4143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2A3A33"/>
                </a:solidFill>
                <a:highlight>
                  <a:srgbClr val="ECE7D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Cruzar el umbral </a:t>
            </a:r>
            <a:r>
              <a:rPr lang="en-US" sz="19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</a:t>
            </a:r>
            <a:r>
              <a:rPr lang="en-US" sz="1950" dirty="0">
                <a:solidFill>
                  <a:srgbClr val="2A3A33"/>
                </a:solidFill>
                <a:highlight>
                  <a:srgbClr val="ECE7DC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significa bajar productividad. Significa entrar en revisión y hacerse </a:t>
            </a:r>
            <a:r>
              <a:rPr lang="en-US" sz="19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pregunta.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 · CAUSA RAÍZ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1037017" cy="1226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basta con detectar el retraso. Hay que entender de dónde viene.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2931765"/>
            <a:ext cx="1663903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retraso viene de una salida tardía del centro?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66800" y="3546820"/>
            <a:ext cx="7886700" cy="5117827"/>
          </a:xfrm>
          <a:prstGeom prst="roundRect">
            <a:avLst>
              <a:gd name="adj" fmla="val 1861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066800" y="3546820"/>
            <a:ext cx="7886700" cy="47625"/>
          </a:xfrm>
          <a:prstGeom prst="rect">
            <a:avLst/>
          </a:prstGeom>
          <a:solidFill>
            <a:srgbClr val="6A7A7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1390650" y="3918295"/>
            <a:ext cx="74561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90650" y="4346920"/>
            <a:ext cx="745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está aguas arriba.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90650" y="4794595"/>
            <a:ext cx="7456170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Preparación, carga, salida de muelle. </a:t>
            </a:r>
            <a:r>
              <a:rPr lang="en-US" sz="1950" i="1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toca la productividad de la operativa.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34500" y="3549725"/>
            <a:ext cx="7886700" cy="5117827"/>
          </a:xfrm>
          <a:prstGeom prst="roundRect">
            <a:avLst>
              <a:gd name="adj" fmla="val 1861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9334500" y="3549725"/>
            <a:ext cx="78867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9658350" y="3921200"/>
            <a:ext cx="745617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2D7A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58350" y="4349825"/>
            <a:ext cx="745617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spc="-2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en hora, vuelve en hora.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658350" y="4797500"/>
            <a:ext cx="7456170" cy="1115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operación cabe en su ventana y aun así llega tarde. Entramos a evaluar </a:t>
            </a:r>
            <a:r>
              <a:rPr lang="en-US" sz="1950" b="1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bajar productividad. </a:t>
            </a:r>
            <a:r>
              <a:rPr lang="en-US" sz="19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validada con Rutinario.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066800" y="8949705"/>
            <a:ext cx="11349045" cy="3847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filtro evita penalizar operativas que en realidad funcionan bien pero arrancan tarde.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OTRA CARA · SUBIDAS DE PRODUCTIVIDAD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todo es bajar. También se sube.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4378182"/>
            <a:ext cx="817059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RETRASOS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66800" y="4811569"/>
            <a:ext cx="8170592" cy="1334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1100" b="1" kern="0" spc="-444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&lt;1,5 %</a:t>
            </a:r>
            <a:endParaRPr lang="en-US" sz="11100" dirty="0"/>
          </a:p>
        </p:txBody>
      </p:sp>
      <p:sp>
        <p:nvSpPr>
          <p:cNvPr id="6" name="Text 4"/>
          <p:cNvSpPr/>
          <p:nvPr/>
        </p:nvSpPr>
        <p:spPr>
          <a:xfrm>
            <a:off x="1066800" y="6318007"/>
            <a:ext cx="3666615" cy="11676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retrasos de forma sostenida </a:t>
            </a:r>
            <a:r>
              <a:rPr lang="en-US" sz="210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margen por volumen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85213" y="4732258"/>
            <a:ext cx="77619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CRITERIO DE OFICIALIZACIÓN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85213" y="5275183"/>
            <a:ext cx="3634606" cy="1824038"/>
          </a:xfrm>
          <a:prstGeom prst="roundRect">
            <a:avLst>
              <a:gd name="adj" fmla="val 522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9685213" y="5275183"/>
            <a:ext cx="3634606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0009063" y="5646658"/>
            <a:ext cx="1554733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b="1" kern="0" spc="-16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0,5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10009063" y="6513433"/>
            <a:ext cx="10927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/ día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586520" y="5275183"/>
            <a:ext cx="3634606" cy="1824038"/>
          </a:xfrm>
          <a:prstGeom prst="roundRect">
            <a:avLst>
              <a:gd name="adj" fmla="val 522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13586520" y="5275183"/>
            <a:ext cx="3634606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3910370" y="5646658"/>
            <a:ext cx="100779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b="1" kern="0" spc="-162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7,5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910370" y="6465808"/>
            <a:ext cx="99104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cols / día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6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9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Shape 20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4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1673504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2 · ÁREAS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255550"/>
            <a:ext cx="16639032" cy="197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800" b="1" kern="0" spc="-234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pasa cuando nos estancamos?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066800" y="4600500"/>
            <a:ext cx="8249844" cy="2036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productividad tiene un techo: llega un punto en el que ajustarla ya no da más de sí. ¿Tenemos más herramientas para seguir mejorando? </a:t>
            </a:r>
            <a:r>
              <a:rPr lang="en-US" sz="27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Sí: las áreas.</a:t>
            </a: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7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7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66800" y="6846317"/>
            <a:ext cx="7107888" cy="169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bien las áreas es una palanca de productividad en los dos sentidos: subirla donde hay margen, y bajar retrasos estructurales sin tener que bajarla.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4935126" y="876300"/>
            <a:ext cx="2362274" cy="194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0" b="1" dirty="0">
                <a:solidFill>
                  <a:srgbClr val="F4F1EA">
                    <a:alpha val="1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0" dirty="0"/>
          </a:p>
        </p:txBody>
      </p:sp>
      <p:sp>
        <p:nvSpPr>
          <p:cNvPr id="7" name="Shape 5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Shape 10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1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F4F1EA">
              <a:alpha val="22000"/>
            </a:srgbClr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ÁREAS · FUSIÓN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herramienta es parcial. Juntas son la decisión.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38181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066800" y="3818132"/>
            <a:ext cx="46482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90650" y="41896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HERRAMIENTA 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46182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Rutas reales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390650" y="5065907"/>
            <a:ext cx="41205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Coordenadas históricas + saltos detectados. La realidad de la carretera.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76900" y="3818132"/>
            <a:ext cx="1181100" cy="258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4050" dirty="0"/>
          </a:p>
        </p:txBody>
      </p:sp>
      <p:sp>
        <p:nvSpPr>
          <p:cNvPr id="10" name="Shape 8"/>
          <p:cNvSpPr/>
          <p:nvPr/>
        </p:nvSpPr>
        <p:spPr>
          <a:xfrm>
            <a:off x="6819900" y="38181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1" name="Shape 9"/>
          <p:cNvSpPr/>
          <p:nvPr/>
        </p:nvSpPr>
        <p:spPr>
          <a:xfrm>
            <a:off x="6819900" y="3818132"/>
            <a:ext cx="4648200" cy="47625"/>
          </a:xfrm>
          <a:prstGeom prst="rect">
            <a:avLst/>
          </a:prstGeom>
          <a:solidFill>
            <a:srgbClr val="2D7A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143750" y="41896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43750" y="46182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7143750" y="5065907"/>
            <a:ext cx="4120515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Configuración visual + </a:t>
            </a:r>
            <a:r>
              <a:rPr lang="en-US" sz="1800" dirty="0" err="1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previsualización</a:t>
            </a:r>
            <a:r>
              <a:rPr lang="en-US" sz="18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430000" y="3821032"/>
            <a:ext cx="1181100" cy="2583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4050" dirty="0"/>
          </a:p>
        </p:txBody>
      </p:sp>
      <p:sp>
        <p:nvSpPr>
          <p:cNvPr id="16" name="Shape 14"/>
          <p:cNvSpPr/>
          <p:nvPr/>
        </p:nvSpPr>
        <p:spPr>
          <a:xfrm>
            <a:off x="12573000" y="3821032"/>
            <a:ext cx="4648200" cy="2545407"/>
          </a:xfrm>
          <a:prstGeom prst="roundRect">
            <a:avLst>
              <a:gd name="adj" fmla="val 3742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12573000" y="3821032"/>
            <a:ext cx="4648200" cy="47625"/>
          </a:xfrm>
          <a:prstGeom prst="rect">
            <a:avLst/>
          </a:prstGeom>
          <a:solidFill>
            <a:srgbClr val="8FBBA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12896850" y="4192507"/>
            <a:ext cx="41205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FUSIÓN A + B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96850" y="4621132"/>
            <a:ext cx="412051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sabia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896850" y="5068807"/>
            <a:ext cx="4120515" cy="687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80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real validado por demanda y geografía. De un vistazo.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2535" y="6781949"/>
            <a:ext cx="431673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FORTALEZA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2535" y="7115324"/>
            <a:ext cx="43167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 real de las rutas.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819900" y="6781949"/>
            <a:ext cx="14288" cy="653355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11453813" y="6781949"/>
            <a:ext cx="14288" cy="653355"/>
          </a:xfrm>
          <a:prstGeom prst="rect">
            <a:avLst/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000351" y="6781949"/>
            <a:ext cx="428729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LECTURA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000351" y="7115324"/>
            <a:ext cx="428729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 un vistazo ver si tiene sentido».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738735" y="6781949"/>
            <a:ext cx="431673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SIGUIENTE PASO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738735" y="7115324"/>
            <a:ext cx="43167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con Rutinario.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Shape 31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2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658523"/>
            <a:ext cx="115766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CIERRE DEL CÍRCULO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3278670"/>
            <a:ext cx="11576685" cy="17814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6600" b="1" kern="0" spc="-119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bloque del informe ya tiene un origen.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1066800" y="5406482"/>
            <a:ext cx="5499922" cy="21502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foto final </a:t>
            </a:r>
            <a:r>
              <a:rPr lang="en-US" sz="3150" i="1" dirty="0">
                <a:solidFill>
                  <a:srgbClr val="A823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no es solo una foto </a:t>
            </a:r>
            <a:r>
              <a:rPr lang="en-US" sz="315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Es el resumen de un proceso que podemos seguir paso a paso.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2301701"/>
            <a:ext cx="1255776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OBJETIVO DE FONDO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2921511"/>
            <a:ext cx="11184178" cy="22966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b="1" kern="0" spc="-103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Hacer este trabajo de la forma más eficiente y sencilla posible.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1066800" y="5602041"/>
            <a:ext cx="9035547" cy="231055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7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herramienta que mejoramos, cada umbral que afinamos, cada paso que automatizamos va en la misma dirección: que las decisiones sean cada vez </a:t>
            </a:r>
            <a:r>
              <a:rPr lang="en-US" sz="2700" b="1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difíciles de tomar </a:t>
            </a:r>
            <a:r>
              <a:rPr lang="en-US" sz="270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más basadas en datos y más ajustadas a la realidad.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BLOQUE 2 · LA HERRAMIENTA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histórico como farola.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Mejorar las áreas que ya tenemos configuradas usando el </a:t>
            </a: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rutas reales</a:t>
            </a: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como farola: ilumina cómo se recorre hoy cada zona para encontrar cómo recorrerla mejor.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ENTRADA</a:t>
            </a:r>
            <a:endParaRPr lang="en-US" sz="1800" dirty="0"/>
          </a:p>
        </p:txBody>
      </p:sp>
      <p:sp>
        <p:nvSpPr>
          <p:cNvPr id="8" name="Text 8"/>
          <p:cNvSpPr/>
          <p:nvPr/>
        </p:nvSpPr>
        <p:spPr>
          <a:xfrm>
            <a:off x="1390650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histórico</a:t>
            </a:r>
            <a:endParaRPr lang="en-US" sz="2250" dirty="0"/>
          </a:p>
        </p:txBody>
      </p:sp>
      <p:sp>
        <p:nvSpPr>
          <p:cNvPr id="9" name="Text 9"/>
          <p:cNvSpPr/>
          <p:nvPr/>
        </p:nvSpPr>
        <p:spPr>
          <a:xfrm>
            <a:off x="1390650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coordenadas reales de entrega de cada operativa: dónde paró cada ruta, día a día.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6841744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6841744" y="4621060"/>
            <a:ext cx="5089144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Text 12"/>
          <p:cNvSpPr/>
          <p:nvPr/>
        </p:nvSpPr>
        <p:spPr>
          <a:xfrm>
            <a:off x="7165594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MOTOR</a:t>
            </a:r>
            <a:endParaRPr lang="en-US" sz="1800" dirty="0"/>
          </a:p>
        </p:txBody>
      </p:sp>
      <p:sp>
        <p:nvSpPr>
          <p:cNvPr id="13" name="Text 13"/>
          <p:cNvSpPr/>
          <p:nvPr/>
        </p:nvSpPr>
        <p:spPr>
          <a:xfrm>
            <a:off x="7165594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OSRM</a:t>
            </a:r>
            <a:endParaRPr lang="en-US" sz="2250" dirty="0"/>
          </a:p>
        </p:txBody>
      </p:sp>
      <p:sp>
        <p:nvSpPr>
          <p:cNvPr id="14" name="Text 14"/>
          <p:cNvSpPr/>
          <p:nvPr/>
        </p:nvSpPr>
        <p:spPr>
          <a:xfrm>
            <a:off x="7165594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motor de rutas abierto que convierte esas coordenadas en km reales por carretera. No línea recta: carretera.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2616688" y="4621060"/>
            <a:ext cx="5089144" cy="2526357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6"/>
          <p:cNvSpPr/>
          <p:nvPr/>
        </p:nvSpPr>
        <p:spPr>
          <a:xfrm>
            <a:off x="12616688" y="4621060"/>
            <a:ext cx="5089144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7" name="Text 17"/>
          <p:cNvSpPr/>
          <p:nvPr/>
        </p:nvSpPr>
        <p:spPr>
          <a:xfrm>
            <a:off x="12940538" y="4992535"/>
            <a:ext cx="44414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SALIDA</a:t>
            </a:r>
            <a:endParaRPr lang="en-US" sz="1800" dirty="0"/>
          </a:p>
        </p:txBody>
      </p:sp>
      <p:sp>
        <p:nvSpPr>
          <p:cNvPr id="18" name="Text 18"/>
          <p:cNvSpPr/>
          <p:nvPr/>
        </p:nvSpPr>
        <p:spPr>
          <a:xfrm>
            <a:off x="12940538" y="5421160"/>
            <a:ext cx="4441444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km/pedido</a:t>
            </a:r>
            <a:endParaRPr lang="en-US" sz="2250" dirty="0"/>
          </a:p>
        </p:txBody>
      </p:sp>
      <p:sp>
        <p:nvSpPr>
          <p:cNvPr id="19" name="Text 19"/>
          <p:cNvSpPr/>
          <p:nvPr/>
        </p:nvSpPr>
        <p:spPr>
          <a:xfrm>
            <a:off x="12940538" y="5849785"/>
            <a:ext cx="4441444" cy="1011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sola métrica por área: cuántos km cuesta cada pedido. Y propuestas concretas para reducirla.</a:t>
            </a:r>
            <a:endParaRPr lang="en-US" sz="1800" dirty="0"/>
          </a:p>
        </p:txBody>
      </p:sp>
      <p:sp>
        <p:nvSpPr>
          <p:cNvPr id="20" name="Text 20"/>
          <p:cNvSpPr/>
          <p:nvPr/>
        </p:nvSpPr>
        <p:spPr>
          <a:xfrm>
            <a:off x="6117844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1" name="Text 21"/>
          <p:cNvSpPr/>
          <p:nvPr/>
        </p:nvSpPr>
        <p:spPr>
          <a:xfrm>
            <a:off x="11892788" y="5673998"/>
            <a:ext cx="762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3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300" dirty="0"/>
          </a:p>
        </p:txBody>
      </p:sp>
      <p:sp>
        <p:nvSpPr>
          <p:cNvPr id="22" name="Shape 22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3" name="Shape 23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Text 24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en desarrollo: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importante hoy es la idea — qué mide, cómo lo mide y para qué sirve.</a:t>
            </a:r>
            <a:endParaRPr lang="en-US" sz="1950" dirty="0"/>
          </a:p>
        </p:txBody>
      </p:sp>
      <p:sp>
        <p:nvSpPr>
          <p:cNvPr id="25" name="Shape 25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6" name="Shape 26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7" name="Shape 27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Shape 29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0" name="Shape 30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1" name="Shape 31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HERRAMIENTA · PASO 1 · EL BASELINE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 cuesta hoy cada pedido?</a:t>
            </a:r>
            <a:endParaRPr lang="en-US" sz="4500" dirty="0"/>
          </a:p>
        </p:txBody>
      </p:sp>
      <p:sp>
        <p:nvSpPr>
          <p:cNvPr id="4" name="Text 4"/>
          <p:cNvSpPr/>
          <p:nvPr/>
        </p:nvSpPr>
        <p:spPr>
          <a:xfrm>
            <a:off x="1066800" y="2300000"/>
            <a:ext cx="16639032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área simplificada: 4 rutas en un día cualquiera, medidas con OSRM sobre carretera real.</a:t>
            </a:r>
            <a:endParaRPr lang="en-US" sz="2250" dirty="0"/>
          </a:p>
        </p:txBody>
      </p:sp>
      <p:sp>
        <p:nvSpPr>
          <p:cNvPr id="5" name="Shape 5"/>
          <p:cNvSpPr/>
          <p:nvPr/>
        </p:nvSpPr>
        <p:spPr>
          <a:xfrm>
            <a:off x="1066800" y="3200000"/>
            <a:ext cx="3759708" cy="19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6"/>
          <p:cNvSpPr/>
          <p:nvPr/>
        </p:nvSpPr>
        <p:spPr>
          <a:xfrm>
            <a:off x="1066800" y="3200000"/>
            <a:ext cx="3759708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7" name="Text 7"/>
          <p:cNvSpPr/>
          <p:nvPr/>
        </p:nvSpPr>
        <p:spPr>
          <a:xfrm>
            <a:off x="1390650" y="3530000"/>
            <a:ext cx="31120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1</a:t>
            </a:r>
            <a:endParaRPr lang="en-US" sz="1800" dirty="0"/>
          </a:p>
        </p:txBody>
      </p:sp>
      <p:sp>
        <p:nvSpPr>
          <p:cNvPr id="8" name="Text 8"/>
          <p:cNvSpPr/>
          <p:nvPr/>
        </p:nvSpPr>
        <p:spPr>
          <a:xfrm>
            <a:off x="1390650" y="3960000"/>
            <a:ext cx="3112008" cy="5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km</a:t>
            </a:r>
            <a:endParaRPr lang="en-US" sz="3450" dirty="0"/>
          </a:p>
        </p:txBody>
      </p:sp>
      <p:sp>
        <p:nvSpPr>
          <p:cNvPr id="9" name="Text 9"/>
          <p:cNvSpPr/>
          <p:nvPr/>
        </p:nvSpPr>
        <p:spPr>
          <a:xfrm>
            <a:off x="1390650" y="4530000"/>
            <a:ext cx="3112008" cy="3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pedidos</a:t>
            </a:r>
            <a:endParaRPr lang="en-US" sz="1950" dirty="0"/>
          </a:p>
        </p:txBody>
      </p:sp>
      <p:sp>
        <p:nvSpPr>
          <p:cNvPr id="10" name="Shape 10"/>
          <p:cNvSpPr/>
          <p:nvPr/>
        </p:nvSpPr>
        <p:spPr>
          <a:xfrm>
            <a:off x="5359908" y="3200000"/>
            <a:ext cx="3759708" cy="19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5359908" y="3200000"/>
            <a:ext cx="3759708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Text 12"/>
          <p:cNvSpPr/>
          <p:nvPr/>
        </p:nvSpPr>
        <p:spPr>
          <a:xfrm>
            <a:off x="5683758" y="3530000"/>
            <a:ext cx="31120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2</a:t>
            </a:r>
            <a:endParaRPr lang="en-US" sz="1800" dirty="0"/>
          </a:p>
        </p:txBody>
      </p:sp>
      <p:sp>
        <p:nvSpPr>
          <p:cNvPr id="13" name="Text 13"/>
          <p:cNvSpPr/>
          <p:nvPr/>
        </p:nvSpPr>
        <p:spPr>
          <a:xfrm>
            <a:off x="5683758" y="3960000"/>
            <a:ext cx="3112008" cy="5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km</a:t>
            </a:r>
            <a:endParaRPr lang="en-US" sz="3450" dirty="0"/>
          </a:p>
        </p:txBody>
      </p:sp>
      <p:sp>
        <p:nvSpPr>
          <p:cNvPr id="14" name="Text 14"/>
          <p:cNvSpPr/>
          <p:nvPr/>
        </p:nvSpPr>
        <p:spPr>
          <a:xfrm>
            <a:off x="5683758" y="4530000"/>
            <a:ext cx="3112008" cy="3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pedidos</a:t>
            </a:r>
            <a:endParaRPr lang="en-US" sz="1950" dirty="0"/>
          </a:p>
        </p:txBody>
      </p:sp>
      <p:sp>
        <p:nvSpPr>
          <p:cNvPr id="15" name="Shape 15"/>
          <p:cNvSpPr/>
          <p:nvPr/>
        </p:nvSpPr>
        <p:spPr>
          <a:xfrm>
            <a:off x="9653016" y="3200000"/>
            <a:ext cx="3759708" cy="19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6"/>
          <p:cNvSpPr/>
          <p:nvPr/>
        </p:nvSpPr>
        <p:spPr>
          <a:xfrm>
            <a:off x="9653016" y="3200000"/>
            <a:ext cx="3759708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7" name="Text 17"/>
          <p:cNvSpPr/>
          <p:nvPr/>
        </p:nvSpPr>
        <p:spPr>
          <a:xfrm>
            <a:off x="9976866" y="3530000"/>
            <a:ext cx="31120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3</a:t>
            </a:r>
            <a:endParaRPr lang="en-US" sz="1800" dirty="0"/>
          </a:p>
        </p:txBody>
      </p:sp>
      <p:sp>
        <p:nvSpPr>
          <p:cNvPr id="18" name="Text 18"/>
          <p:cNvSpPr/>
          <p:nvPr/>
        </p:nvSpPr>
        <p:spPr>
          <a:xfrm>
            <a:off x="9976866" y="3960000"/>
            <a:ext cx="3112008" cy="5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km</a:t>
            </a:r>
            <a:endParaRPr lang="en-US" sz="3450" dirty="0"/>
          </a:p>
        </p:txBody>
      </p:sp>
      <p:sp>
        <p:nvSpPr>
          <p:cNvPr id="19" name="Text 19"/>
          <p:cNvSpPr/>
          <p:nvPr/>
        </p:nvSpPr>
        <p:spPr>
          <a:xfrm>
            <a:off x="9976866" y="4530000"/>
            <a:ext cx="3112008" cy="3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pedidos</a:t>
            </a:r>
            <a:endParaRPr lang="en-US" sz="1950" dirty="0"/>
          </a:p>
        </p:txBody>
      </p:sp>
      <p:sp>
        <p:nvSpPr>
          <p:cNvPr id="20" name="Shape 20"/>
          <p:cNvSpPr/>
          <p:nvPr/>
        </p:nvSpPr>
        <p:spPr>
          <a:xfrm>
            <a:off x="13946124" y="3200000"/>
            <a:ext cx="3759708" cy="19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21"/>
          <p:cNvSpPr/>
          <p:nvPr/>
        </p:nvSpPr>
        <p:spPr>
          <a:xfrm>
            <a:off x="13946124" y="3200000"/>
            <a:ext cx="3759708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2" name="Text 22"/>
          <p:cNvSpPr/>
          <p:nvPr/>
        </p:nvSpPr>
        <p:spPr>
          <a:xfrm>
            <a:off x="14269974" y="3530000"/>
            <a:ext cx="31120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RUTA 4</a:t>
            </a:r>
            <a:endParaRPr lang="en-US" sz="1800" dirty="0"/>
          </a:p>
        </p:txBody>
      </p:sp>
      <p:sp>
        <p:nvSpPr>
          <p:cNvPr id="23" name="Text 23"/>
          <p:cNvSpPr/>
          <p:nvPr/>
        </p:nvSpPr>
        <p:spPr>
          <a:xfrm>
            <a:off x="14269974" y="3960000"/>
            <a:ext cx="3112008" cy="5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km</a:t>
            </a:r>
            <a:endParaRPr lang="en-US" sz="3450" dirty="0"/>
          </a:p>
        </p:txBody>
      </p:sp>
      <p:sp>
        <p:nvSpPr>
          <p:cNvPr id="24" name="Text 24"/>
          <p:cNvSpPr/>
          <p:nvPr/>
        </p:nvSpPr>
        <p:spPr>
          <a:xfrm>
            <a:off x="14269974" y="4530000"/>
            <a:ext cx="3112008" cy="3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pedidos</a:t>
            </a:r>
            <a:endParaRPr lang="en-US" sz="1950" dirty="0"/>
          </a:p>
        </p:txBody>
      </p:sp>
      <p:sp>
        <p:nvSpPr>
          <p:cNvPr id="25" name="Text 25"/>
          <p:cNvSpPr/>
          <p:nvPr/>
        </p:nvSpPr>
        <p:spPr>
          <a:xfrm>
            <a:off x="1066800" y="55500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SUMA DEL ÁREA</a:t>
            </a:r>
            <a:endParaRPr lang="en-US" sz="1800" dirty="0"/>
          </a:p>
        </p:txBody>
      </p:sp>
      <p:sp>
        <p:nvSpPr>
          <p:cNvPr id="26" name="Text 26"/>
          <p:cNvSpPr/>
          <p:nvPr/>
        </p:nvSpPr>
        <p:spPr>
          <a:xfrm>
            <a:off x="1066800" y="6000000"/>
            <a:ext cx="16639032" cy="1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50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km</a:t>
            </a:r>
            <a:r>
              <a:rPr lang="en-US" sz="33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÷  </a:t>
            </a:r>
            <a:r>
              <a:rPr lang="en-US" sz="450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pedidos</a:t>
            </a:r>
            <a:r>
              <a:rPr lang="en-US" sz="33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</a:t>
            </a:r>
            <a:r>
              <a:rPr lang="en-US" sz="4500" b="1" kern="0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 km/pedido</a:t>
            </a:r>
            <a:endParaRPr lang="en-US" sz="4500" dirty="0"/>
          </a:p>
        </p:txBody>
      </p:sp>
      <p:sp>
        <p:nvSpPr>
          <p:cNvPr id="27" name="Shape 27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8" name="Shape 28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Text 29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2,0 es el baseline: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referencia del área. No es una estimación — son km que ya se recorrieron. Cualquier mejora se mide contra él.</a:t>
            </a:r>
            <a:endParaRPr lang="en-US" sz="1950" dirty="0"/>
          </a:p>
        </p:txBody>
      </p:sp>
      <p:sp>
        <p:nvSpPr>
          <p:cNvPr id="30" name="Shape 30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1" name="Shape 31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2" name="Shape 32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3" name="Shape 33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4" name="Shape 34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5" name="Shape 35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6" name="Shape 36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HERRAMIENTA · PASO 2 · EL CORREDOR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rutas, un mismo tramo.</a:t>
            </a:r>
            <a:endParaRPr lang="en-US" sz="4500" dirty="0"/>
          </a:p>
        </p:txBody>
      </p:sp>
      <p:sp>
        <p:nvSpPr>
          <p:cNvPr id="4" name="Shape 4"/>
          <p:cNvSpPr/>
          <p:nvPr/>
        </p:nvSpPr>
        <p:spPr>
          <a:xfrm>
            <a:off x="1066800" y="2714954"/>
            <a:ext cx="8662392" cy="4953000"/>
          </a:xfrm>
          <a:prstGeom prst="roundRect">
            <a:avLst>
              <a:gd name="adj" fmla="val 3770"/>
            </a:avLst>
          </a:prstGeom>
          <a:solidFill>
            <a:srgbClr val="FFFFFF"/>
          </a:solidFill>
          <a:ln w="14288">
            <a:solidFill>
              <a:srgbClr val="CFC7B5"/>
            </a:solidFill>
          </a:ln>
          <a:effectLst/>
        </p:spPr>
        <p:txBody>
          <a:bodyPr/>
          <a:lstStyle/>
          <a:p>
            <a:endParaRPr lang="es-ES"/>
          </a:p>
        </p:txBody>
      </p:sp>
      <p:sp>
        <p:nvSpPr>
          <p:cNvPr id="5" name="Shape 5"/>
          <p:cNvSpPr/>
          <p:nvPr/>
        </p:nvSpPr>
        <p:spPr>
          <a:xfrm>
            <a:off x="3000000" y="4600000"/>
            <a:ext cx="2600000" cy="700000"/>
          </a:xfrm>
          <a:prstGeom prst="rect">
            <a:avLst/>
          </a:prstGeom>
          <a:solidFill>
            <a:srgbClr val="ECE7DC"/>
          </a:solidFill>
          <a:ln w="19050">
            <a:solidFill>
              <a:srgbClr val="C1432E"/>
            </a:solidFill>
            <a:prstDash val="dash"/>
          </a:ln>
          <a:effectLst/>
        </p:spPr>
        <p:txBody>
          <a:bodyPr/>
          <a:lstStyle/>
          <a:p>
            <a:endParaRPr lang="es-ES"/>
          </a:p>
        </p:txBody>
      </p:sp>
      <p:cxnSp>
        <p:nvCxnSpPr>
          <p:cNvPr id="6" name="Line 6"/>
          <p:cNvCxnSpPr/>
          <p:nvPr/>
        </p:nvCxnSpPr>
        <p:spPr>
          <a:xfrm>
            <a:off x="1980000" y="4950000"/>
            <a:ext cx="5620000" cy="0"/>
          </a:xfrm>
          <a:prstGeom prst="line">
            <a:avLst/>
          </a:prstGeom>
          <a:ln w="38100" cap="rnd">
            <a:solidFill>
              <a:srgbClr val="2D7A55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980000" y="5100000"/>
            <a:ext cx="4220000" cy="1700000"/>
          </a:xfrm>
          <a:prstGeom prst="line">
            <a:avLst/>
          </a:prstGeom>
          <a:ln w="38100" cap="rnd">
            <a:solidFill>
              <a:srgbClr val="6A7A7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5600000" y="5300000"/>
            <a:ext cx="1300000" cy="1050000"/>
          </a:xfrm>
          <a:prstGeom prst="line">
            <a:avLst/>
          </a:prstGeom>
          <a:ln w="28575" cap="rnd">
            <a:solidFill>
              <a:srgbClr val="C1432E"/>
            </a:solidFill>
            <a:prstDash val="dash"/>
          </a:ln>
        </p:spPr>
      </p:cxnSp>
      <p:sp>
        <p:nvSpPr>
          <p:cNvPr id="9" name="Shape 9"/>
          <p:cNvSpPr/>
          <p:nvPr/>
        </p:nvSpPr>
        <p:spPr>
          <a:xfrm>
            <a:off x="3380000" y="5050000"/>
            <a:ext cx="140000" cy="140000"/>
          </a:xfrm>
          <a:prstGeom prst="ellipse">
            <a:avLst/>
          </a:prstGeom>
          <a:solidFill>
            <a:srgbClr val="C1432E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0" name="Shape 10"/>
          <p:cNvSpPr/>
          <p:nvPr/>
        </p:nvSpPr>
        <p:spPr>
          <a:xfrm>
            <a:off x="4130000" y="5050000"/>
            <a:ext cx="140000" cy="140000"/>
          </a:xfrm>
          <a:prstGeom prst="ellipse">
            <a:avLst/>
          </a:prstGeom>
          <a:solidFill>
            <a:srgbClr val="C1432E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4880000" y="5050000"/>
            <a:ext cx="140000" cy="140000"/>
          </a:xfrm>
          <a:prstGeom prst="ellipse">
            <a:avLst/>
          </a:prstGeom>
          <a:solidFill>
            <a:srgbClr val="C1432E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Shape 12"/>
          <p:cNvSpPr/>
          <p:nvPr/>
        </p:nvSpPr>
        <p:spPr>
          <a:xfrm>
            <a:off x="1500000" y="4710000"/>
            <a:ext cx="480000" cy="480000"/>
          </a:xfrm>
          <a:prstGeom prst="roundRect">
            <a:avLst>
              <a:gd name="adj" fmla="val 12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3" name="Text 13"/>
          <p:cNvSpPr/>
          <p:nvPr/>
        </p:nvSpPr>
        <p:spPr>
          <a:xfrm>
            <a:off x="1170000" y="5260000"/>
            <a:ext cx="1140000" cy="2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300" kern="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COLMENA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7600000" y="4400000"/>
            <a:ext cx="1750000" cy="1050000"/>
          </a:xfrm>
          <a:prstGeom prst="roundRect">
            <a:avLst>
              <a:gd name="adj" fmla="val 3770"/>
            </a:avLst>
          </a:prstGeom>
          <a:solidFill>
            <a:srgbClr val="D7E0D8"/>
          </a:solidFill>
          <a:ln w="19050">
            <a:solidFill>
              <a:srgbClr val="2D7A55"/>
            </a:solidFill>
          </a:ln>
          <a:effectLst/>
        </p:spPr>
        <p:txBody>
          <a:bodyPr/>
          <a:lstStyle/>
          <a:p>
            <a:endParaRPr lang="es-ES"/>
          </a:p>
        </p:txBody>
      </p:sp>
      <p:sp>
        <p:nvSpPr>
          <p:cNvPr id="15" name="Text 15"/>
          <p:cNvSpPr/>
          <p:nvPr/>
        </p:nvSpPr>
        <p:spPr>
          <a:xfrm>
            <a:off x="7600000" y="4560000"/>
            <a:ext cx="17500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1E4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A</a:t>
            </a:r>
            <a:endParaRPr lang="en-US" sz="1600" dirty="0"/>
          </a:p>
        </p:txBody>
      </p:sp>
      <p:sp>
        <p:nvSpPr>
          <p:cNvPr id="16" name="Text 16"/>
          <p:cNvSpPr/>
          <p:nvPr/>
        </p:nvSpPr>
        <p:spPr>
          <a:xfrm>
            <a:off x="7600000" y="4960000"/>
            <a:ext cx="175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reparte la Ruta A</a:t>
            </a:r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6200000" y="6350000"/>
            <a:ext cx="1750000" cy="950000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 w="19050">
            <a:solidFill>
              <a:srgbClr val="6A7A72"/>
            </a:solidFill>
          </a:ln>
          <a:effectLst/>
        </p:spPr>
        <p:txBody>
          <a:bodyPr/>
          <a:lstStyle/>
          <a:p>
            <a:endParaRPr lang="es-ES"/>
          </a:p>
        </p:txBody>
      </p:sp>
      <p:sp>
        <p:nvSpPr>
          <p:cNvPr id="18" name="Text 18"/>
          <p:cNvSpPr/>
          <p:nvPr/>
        </p:nvSpPr>
        <p:spPr>
          <a:xfrm>
            <a:off x="6200000" y="6480000"/>
            <a:ext cx="17500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B</a:t>
            </a:r>
            <a:endParaRPr lang="en-US" sz="1600" dirty="0"/>
          </a:p>
        </p:txBody>
      </p:sp>
      <p:sp>
        <p:nvSpPr>
          <p:cNvPr id="19" name="Text 19"/>
          <p:cNvSpPr/>
          <p:nvPr/>
        </p:nvSpPr>
        <p:spPr>
          <a:xfrm>
            <a:off x="6200000" y="6880000"/>
            <a:ext cx="175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reparte la Ruta B</a:t>
            </a:r>
            <a:endParaRPr lang="en-US" sz="1200" dirty="0"/>
          </a:p>
        </p:txBody>
      </p:sp>
      <p:sp>
        <p:nvSpPr>
          <p:cNvPr id="20" name="Text 20"/>
          <p:cNvSpPr/>
          <p:nvPr/>
        </p:nvSpPr>
        <p:spPr>
          <a:xfrm>
            <a:off x="2800000" y="4180000"/>
            <a:ext cx="300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C143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CORREDOR · 10 km</a:t>
            </a:r>
            <a:endParaRPr lang="en-US" sz="1400" dirty="0"/>
          </a:p>
        </p:txBody>
      </p:sp>
      <p:sp>
        <p:nvSpPr>
          <p:cNvPr id="21" name="Text 21"/>
          <p:cNvSpPr/>
          <p:nvPr/>
        </p:nvSpPr>
        <p:spPr>
          <a:xfrm>
            <a:off x="2350000" y="5420000"/>
            <a:ext cx="300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3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pedidos · hoy de la Ruta B</a:t>
            </a:r>
            <a:endParaRPr lang="en-US" sz="1300" dirty="0"/>
          </a:p>
        </p:txBody>
      </p:sp>
      <p:sp>
        <p:nvSpPr>
          <p:cNvPr id="22" name="Text 22"/>
          <p:cNvSpPr/>
          <p:nvPr/>
        </p:nvSpPr>
        <p:spPr>
          <a:xfrm>
            <a:off x="4150000" y="5870000"/>
            <a:ext cx="190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desvío de B · +10 km</a:t>
            </a:r>
            <a:endParaRPr lang="en-US" sz="1300" dirty="0"/>
          </a:p>
        </p:txBody>
      </p:sp>
      <p:sp>
        <p:nvSpPr>
          <p:cNvPr id="23" name="Text 23"/>
          <p:cNvSpPr/>
          <p:nvPr/>
        </p:nvSpPr>
        <p:spPr>
          <a:xfrm>
            <a:off x="1400000" y="7330000"/>
            <a:ext cx="800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A ya pasa por el corredor; la Ruta B entra solo a repartir.</a:t>
            </a:r>
            <a:endParaRPr lang="en-US" sz="1300" dirty="0"/>
          </a:p>
        </p:txBody>
      </p:sp>
      <p:sp>
        <p:nvSpPr>
          <p:cNvPr id="24" name="Text 24"/>
          <p:cNvSpPr/>
          <p:nvPr/>
        </p:nvSpPr>
        <p:spPr>
          <a:xfrm>
            <a:off x="10414992" y="29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3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ES</a:t>
            </a:r>
            <a:endParaRPr lang="en-US" sz="1950" dirty="0"/>
          </a:p>
        </p:txBody>
      </p:sp>
      <p:sp>
        <p:nvSpPr>
          <p:cNvPr id="25" name="Text 25"/>
          <p:cNvSpPr/>
          <p:nvPr/>
        </p:nvSpPr>
        <p:spPr>
          <a:xfrm>
            <a:off x="10414992" y="3324170"/>
            <a:ext cx="7010394" cy="1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tramo de carretera que una ruta recorre de paso y en el que otra ruta entra solo a repartir.</a:t>
            </a:r>
            <a:endParaRPr lang="en-US" sz="1950" dirty="0"/>
          </a:p>
        </p:txBody>
      </p:sp>
      <p:sp>
        <p:nvSpPr>
          <p:cNvPr id="26" name="Text 26"/>
          <p:cNvSpPr/>
          <p:nvPr/>
        </p:nvSpPr>
        <p:spPr>
          <a:xfrm>
            <a:off x="10414992" y="46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3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CÓMO SE DETECTA</a:t>
            </a:r>
            <a:endParaRPr lang="en-US" sz="1950" dirty="0"/>
          </a:p>
        </p:txBody>
      </p:sp>
      <p:sp>
        <p:nvSpPr>
          <p:cNvPr id="27" name="Text 27"/>
          <p:cNvSpPr/>
          <p:nvPr/>
        </p:nvSpPr>
        <p:spPr>
          <a:xfrm>
            <a:off x="10414992" y="5024170"/>
            <a:ext cx="7010394" cy="1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Cruzando el histórico: coordenadas de dos operativas distintas sobre el mismo tramo, semana tras semana.</a:t>
            </a:r>
            <a:endParaRPr lang="en-US" sz="1950" dirty="0"/>
          </a:p>
        </p:txBody>
      </p:sp>
      <p:sp>
        <p:nvSpPr>
          <p:cNvPr id="28" name="Text 28"/>
          <p:cNvSpPr/>
          <p:nvPr/>
        </p:nvSpPr>
        <p:spPr>
          <a:xfrm>
            <a:off x="10414992" y="63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3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PROPUESTA</a:t>
            </a:r>
            <a:endParaRPr lang="en-US" sz="1950" dirty="0"/>
          </a:p>
        </p:txBody>
      </p:sp>
      <p:sp>
        <p:nvSpPr>
          <p:cNvPr id="29" name="Text 29"/>
          <p:cNvSpPr/>
          <p:nvPr/>
        </p:nvSpPr>
        <p:spPr>
          <a:xfrm>
            <a:off x="10414992" y="6724170"/>
            <a:ext cx="7010394" cy="1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los pedidos del corredor sean de la ruta que ya pasa por allí.</a:t>
            </a:r>
            <a:endParaRPr lang="en-US" sz="1950" dirty="0"/>
          </a:p>
        </p:txBody>
      </p:sp>
      <p:sp>
        <p:nvSpPr>
          <p:cNvPr id="30" name="Shape 30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1" name="Shape 31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2" name="Text 32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hace kilómetros nuevos;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alguien deja de hacerlos.</a:t>
            </a: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4" name="Shape 34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5" name="Shape 35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6" name="Shape 36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7" name="Shape 37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8" name="Shape 38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9" name="Shape 39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HERRAMIENTA · PASO 3 · LA MEJORA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mejora, con números sencillos.</a:t>
            </a:r>
            <a:endParaRPr lang="en-US" sz="4500" dirty="0"/>
          </a:p>
        </p:txBody>
      </p:sp>
      <p:sp>
        <p:nvSpPr>
          <p:cNvPr id="4" name="Shape 4"/>
          <p:cNvSpPr/>
          <p:nvPr/>
        </p:nvSpPr>
        <p:spPr>
          <a:xfrm>
            <a:off x="1066800" y="2900000"/>
            <a:ext cx="4648200" cy="49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5"/>
          <p:cNvSpPr/>
          <p:nvPr/>
        </p:nvSpPr>
        <p:spPr>
          <a:xfrm>
            <a:off x="1066800" y="2900000"/>
            <a:ext cx="4648200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6" name="Text 6"/>
          <p:cNvSpPr/>
          <p:nvPr/>
        </p:nvSpPr>
        <p:spPr>
          <a:xfrm>
            <a:off x="1390650" y="3271475"/>
            <a:ext cx="4000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</a:t>
            </a:r>
            <a:endParaRPr lang="en-US" sz="1800" dirty="0"/>
          </a:p>
        </p:txBody>
      </p:sp>
      <p:sp>
        <p:nvSpPr>
          <p:cNvPr id="7" name="Text 7"/>
          <p:cNvSpPr/>
          <p:nvPr/>
        </p:nvSpPr>
        <p:spPr>
          <a:xfrm>
            <a:off x="1390650" y="3800000"/>
            <a:ext cx="40005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A — 50 km · 25 pedidos</a:t>
            </a:r>
            <a:endParaRPr lang="en-US" sz="1950" dirty="0"/>
          </a:p>
        </p:txBody>
      </p:sp>
      <p:sp>
        <p:nvSpPr>
          <p:cNvPr id="8" name="Text 8"/>
          <p:cNvSpPr/>
          <p:nvPr/>
        </p:nvSpPr>
        <p:spPr>
          <a:xfrm>
            <a:off x="1390650" y="4300000"/>
            <a:ext cx="40005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B — 50 km · 25 pedidos</a:t>
            </a:r>
            <a:endParaRPr lang="en-US" sz="1950" dirty="0"/>
          </a:p>
        </p:txBody>
      </p:sp>
      <p:sp>
        <p:nvSpPr>
          <p:cNvPr id="9" name="Shape 9"/>
          <p:cNvSpPr/>
          <p:nvPr/>
        </p:nvSpPr>
        <p:spPr>
          <a:xfrm>
            <a:off x="1390650" y="4900000"/>
            <a:ext cx="4000500" cy="19050"/>
          </a:xfrm>
          <a:prstGeom prst="rect">
            <a:avLst/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0" name="Text 10"/>
          <p:cNvSpPr/>
          <p:nvPr/>
        </p:nvSpPr>
        <p:spPr>
          <a:xfrm>
            <a:off x="1390650" y="5100000"/>
            <a:ext cx="40005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— 100 km · 50 pedidos</a:t>
            </a:r>
            <a:endParaRPr lang="en-US" sz="1950" dirty="0"/>
          </a:p>
        </p:txBody>
      </p:sp>
      <p:sp>
        <p:nvSpPr>
          <p:cNvPr id="11" name="Text 11"/>
          <p:cNvSpPr/>
          <p:nvPr/>
        </p:nvSpPr>
        <p:spPr>
          <a:xfrm>
            <a:off x="1390650" y="5800000"/>
            <a:ext cx="4000500" cy="11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00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</a:t>
            </a:r>
            <a:r>
              <a:rPr lang="en-US" sz="22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km/pedido</a:t>
            </a:r>
            <a:endParaRPr lang="en-US" sz="6000" dirty="0"/>
          </a:p>
        </p:txBody>
      </p:sp>
      <p:sp>
        <p:nvSpPr>
          <p:cNvPr id="12" name="Shape 12"/>
          <p:cNvSpPr/>
          <p:nvPr/>
        </p:nvSpPr>
        <p:spPr>
          <a:xfrm>
            <a:off x="6819900" y="2900000"/>
            <a:ext cx="4648200" cy="4900000"/>
          </a:xfrm>
          <a:prstGeom prst="roundRect">
            <a:avLst>
              <a:gd name="adj" fmla="val 3770"/>
            </a:avLst>
          </a:prstGeom>
          <a:solidFill>
            <a:srgbClr val="FBFAF5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hape 13"/>
          <p:cNvSpPr/>
          <p:nvPr/>
        </p:nvSpPr>
        <p:spPr>
          <a:xfrm>
            <a:off x="6819900" y="2900000"/>
            <a:ext cx="4648200" cy="47625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4" name="Text 14"/>
          <p:cNvSpPr/>
          <p:nvPr/>
        </p:nvSpPr>
        <p:spPr>
          <a:xfrm>
            <a:off x="7143750" y="3271475"/>
            <a:ext cx="4000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CAMBIO</a:t>
            </a:r>
            <a:endParaRPr lang="en-US" sz="1800" dirty="0"/>
          </a:p>
        </p:txBody>
      </p:sp>
      <p:sp>
        <p:nvSpPr>
          <p:cNvPr id="15" name="Text 15"/>
          <p:cNvSpPr/>
          <p:nvPr/>
        </p:nvSpPr>
        <p:spPr>
          <a:xfrm>
            <a:off x="7143750" y="3800000"/>
            <a:ext cx="4000500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10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10 pedidos del corredor pasan de B a A.</a:t>
            </a:r>
            <a:endParaRPr lang="en-US" sz="2100" dirty="0"/>
          </a:p>
        </p:txBody>
      </p:sp>
      <p:sp>
        <p:nvSpPr>
          <p:cNvPr id="16" name="Text 16"/>
          <p:cNvSpPr/>
          <p:nvPr/>
        </p:nvSpPr>
        <p:spPr>
          <a:xfrm>
            <a:off x="7143750" y="4800000"/>
            <a:ext cx="4000500" cy="8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 añade km: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pasaba por allí.</a:t>
            </a:r>
            <a:endParaRPr lang="en-US" sz="1950" dirty="0"/>
          </a:p>
        </p:txBody>
      </p:sp>
      <p:sp>
        <p:nvSpPr>
          <p:cNvPr id="17" name="Text 17"/>
          <p:cNvSpPr/>
          <p:nvPr/>
        </p:nvSpPr>
        <p:spPr>
          <a:xfrm>
            <a:off x="7143750" y="5600000"/>
            <a:ext cx="4000500" cy="8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se ahorra el desvío: </a:t>
            </a:r>
            <a:r>
              <a:rPr lang="en-US" sz="1950" b="1" kern="0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 km.</a:t>
            </a:r>
            <a:endParaRPr lang="en-US" sz="1950" dirty="0"/>
          </a:p>
        </p:txBody>
      </p:sp>
      <p:sp>
        <p:nvSpPr>
          <p:cNvPr id="18" name="Text 18"/>
          <p:cNvSpPr/>
          <p:nvPr/>
        </p:nvSpPr>
        <p:spPr>
          <a:xfrm>
            <a:off x="7143750" y="6600000"/>
            <a:ext cx="4000500" cy="8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Mismos pedidos, mismos clientes: solo cambia quién recorre el tramo.</a:t>
            </a:r>
            <a:endParaRPr lang="en-US" sz="1800" dirty="0"/>
          </a:p>
        </p:txBody>
      </p:sp>
      <p:sp>
        <p:nvSpPr>
          <p:cNvPr id="19" name="Shape 19"/>
          <p:cNvSpPr/>
          <p:nvPr/>
        </p:nvSpPr>
        <p:spPr>
          <a:xfrm>
            <a:off x="12573000" y="2900000"/>
            <a:ext cx="4648200" cy="4900000"/>
          </a:xfrm>
          <a:prstGeom prst="roundRect">
            <a:avLst>
              <a:gd name="adj" fmla="val 3770"/>
            </a:avLst>
          </a:prstGeom>
          <a:solidFill>
            <a:srgbClr val="1E4F3A"/>
          </a:solidFill>
          <a:ln/>
          <a:effectLst>
            <a:outerShdw blurRad="419100" dist="171450" dir="5400000" algn="bl" rotWithShape="0">
              <a:srgbClr val="14251C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20"/>
          <p:cNvSpPr/>
          <p:nvPr/>
        </p:nvSpPr>
        <p:spPr>
          <a:xfrm>
            <a:off x="12573000" y="2900000"/>
            <a:ext cx="4648200" cy="47625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1" name="Text 21"/>
          <p:cNvSpPr/>
          <p:nvPr/>
        </p:nvSpPr>
        <p:spPr>
          <a:xfrm>
            <a:off x="12896850" y="3271475"/>
            <a:ext cx="40005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8FBB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DESPUÉS</a:t>
            </a:r>
            <a:endParaRPr lang="en-US" sz="1800" dirty="0"/>
          </a:p>
        </p:txBody>
      </p:sp>
      <p:sp>
        <p:nvSpPr>
          <p:cNvPr id="22" name="Text 22"/>
          <p:cNvSpPr/>
          <p:nvPr/>
        </p:nvSpPr>
        <p:spPr>
          <a:xfrm>
            <a:off x="12896850" y="3800000"/>
            <a:ext cx="40005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A — 50 km · 35 pedidos</a:t>
            </a:r>
            <a:endParaRPr lang="en-US" sz="1950" dirty="0"/>
          </a:p>
        </p:txBody>
      </p:sp>
      <p:sp>
        <p:nvSpPr>
          <p:cNvPr id="23" name="Text 23"/>
          <p:cNvSpPr/>
          <p:nvPr/>
        </p:nvSpPr>
        <p:spPr>
          <a:xfrm>
            <a:off x="12896850" y="4300000"/>
            <a:ext cx="40005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B — 40 km · 15 pedidos</a:t>
            </a:r>
            <a:endParaRPr lang="en-US" sz="1950" dirty="0"/>
          </a:p>
        </p:txBody>
      </p:sp>
      <p:sp>
        <p:nvSpPr>
          <p:cNvPr id="24" name="Shape 24"/>
          <p:cNvSpPr/>
          <p:nvPr/>
        </p:nvSpPr>
        <p:spPr>
          <a:xfrm>
            <a:off x="12896850" y="4900000"/>
            <a:ext cx="4000500" cy="19050"/>
          </a:xfrm>
          <a:prstGeom prst="rect">
            <a:avLst/>
          </a:prstGeom>
          <a:solidFill>
            <a:srgbClr val="8FBBA6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5" name="Text 25"/>
          <p:cNvSpPr/>
          <p:nvPr/>
        </p:nvSpPr>
        <p:spPr>
          <a:xfrm>
            <a:off x="12896850" y="5100000"/>
            <a:ext cx="40005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— 90 km · 50 pedidos</a:t>
            </a:r>
            <a:endParaRPr lang="en-US" sz="1950" dirty="0"/>
          </a:p>
        </p:txBody>
      </p:sp>
      <p:sp>
        <p:nvSpPr>
          <p:cNvPr id="26" name="Text 26"/>
          <p:cNvSpPr/>
          <p:nvPr/>
        </p:nvSpPr>
        <p:spPr>
          <a:xfrm>
            <a:off x="12896850" y="5800000"/>
            <a:ext cx="4000500" cy="11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000" b="1" kern="0" dirty="0">
                <a:solidFill>
                  <a:srgbClr val="8FB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</a:t>
            </a:r>
            <a:r>
              <a:rPr lang="en-US" sz="2250" kern="0" dirty="0">
                <a:solidFill>
                  <a:srgbClr val="D7E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km/pedido</a:t>
            </a:r>
            <a:endParaRPr lang="en-US" sz="6000" dirty="0"/>
          </a:p>
        </p:txBody>
      </p:sp>
      <p:sp>
        <p:nvSpPr>
          <p:cNvPr id="27" name="Text 27"/>
          <p:cNvSpPr/>
          <p:nvPr/>
        </p:nvSpPr>
        <p:spPr>
          <a:xfrm>
            <a:off x="5715000" y="2900000"/>
            <a:ext cx="1104900" cy="4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50" dirty="0"/>
          </a:p>
        </p:txBody>
      </p:sp>
      <p:sp>
        <p:nvSpPr>
          <p:cNvPr id="28" name="Text 28"/>
          <p:cNvSpPr/>
          <p:nvPr/>
        </p:nvSpPr>
        <p:spPr>
          <a:xfrm>
            <a:off x="11468100" y="2900000"/>
            <a:ext cx="1104900" cy="4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50" b="1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050" dirty="0"/>
          </a:p>
        </p:txBody>
      </p:sp>
      <p:sp>
        <p:nvSpPr>
          <p:cNvPr id="29" name="Shape 29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0" name="Shape 30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1" name="Text 31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2,0 a 1,8 km/pedido: −10 % de carretera con los mismos pedidos. </a:t>
            </a: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es recorrer mejor.</a:t>
            </a:r>
            <a:endParaRPr lang="en-US" sz="1950" dirty="0"/>
          </a:p>
        </p:txBody>
      </p:sp>
      <p:sp>
        <p:nvSpPr>
          <p:cNvPr id="32" name="Shape 32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3" name="Shape 33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4" name="Shape 34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5" name="Shape 35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6" name="Shape 36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7" name="Shape 37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8" name="Shape 38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066800" y="876300"/>
            <a:ext cx="1663903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96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HERRAMIENTA · LA REGLA ANTI-SALTO</a:t>
            </a:r>
            <a:endParaRPr lang="en-US" sz="1800" dirty="0"/>
          </a:p>
        </p:txBody>
      </p:sp>
      <p:sp>
        <p:nvSpPr>
          <p:cNvPr id="3" name="Text 3"/>
          <p:cNvSpPr/>
          <p:nvPr/>
        </p:nvSpPr>
        <p:spPr>
          <a:xfrm>
            <a:off x="1066800" y="1362075"/>
            <a:ext cx="16639032" cy="632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b="1" kern="0" spc="-81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pedido lejano lo distorsiona todo.</a:t>
            </a:r>
            <a:endParaRPr lang="en-US" sz="4500" dirty="0"/>
          </a:p>
        </p:txBody>
      </p:sp>
      <p:sp>
        <p:nvSpPr>
          <p:cNvPr id="4" name="Shape 4"/>
          <p:cNvSpPr/>
          <p:nvPr/>
        </p:nvSpPr>
        <p:spPr>
          <a:xfrm>
            <a:off x="1066800" y="2714954"/>
            <a:ext cx="8662392" cy="4953000"/>
          </a:xfrm>
          <a:prstGeom prst="roundRect">
            <a:avLst>
              <a:gd name="adj" fmla="val 3770"/>
            </a:avLst>
          </a:prstGeom>
          <a:solidFill>
            <a:srgbClr val="FFFFFF"/>
          </a:solidFill>
          <a:ln w="14288">
            <a:solidFill>
              <a:srgbClr val="CFC7B5"/>
            </a:solidFill>
          </a:ln>
          <a:effectLst/>
        </p:spPr>
        <p:txBody>
          <a:bodyPr/>
          <a:lstStyle/>
          <a:p>
            <a:endParaRPr lang="es-ES"/>
          </a:p>
        </p:txBody>
      </p:sp>
      <p:sp>
        <p:nvSpPr>
          <p:cNvPr id="5" name="Shape 5"/>
          <p:cNvSpPr/>
          <p:nvPr/>
        </p:nvSpPr>
        <p:spPr>
          <a:xfrm>
            <a:off x="1500000" y="3300000"/>
            <a:ext cx="3900000" cy="3450000"/>
          </a:xfrm>
          <a:prstGeom prst="roundRect">
            <a:avLst>
              <a:gd name="adj" fmla="val 8000"/>
            </a:avLst>
          </a:prstGeom>
          <a:solidFill>
            <a:srgbClr val="D7E0D8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6" name="Text 6"/>
          <p:cNvSpPr/>
          <p:nvPr/>
        </p:nvSpPr>
        <p:spPr>
          <a:xfrm>
            <a:off x="1600000" y="3450000"/>
            <a:ext cx="370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1E4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RUTA · 20 pedidos · 30 km</a:t>
            </a:r>
            <a:endParaRPr lang="en-US" sz="1400" dirty="0"/>
          </a:p>
        </p:txBody>
      </p:sp>
      <p:sp>
        <p:nvSpPr>
          <p:cNvPr id="7" name="Shape 7"/>
          <p:cNvSpPr/>
          <p:nvPr/>
        </p:nvSpPr>
        <p:spPr>
          <a:xfrm>
            <a:off x="1880000" y="40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8" name="Shape 8"/>
          <p:cNvSpPr/>
          <p:nvPr/>
        </p:nvSpPr>
        <p:spPr>
          <a:xfrm>
            <a:off x="2430000" y="393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9" name="Shape 9"/>
          <p:cNvSpPr/>
          <p:nvPr/>
        </p:nvSpPr>
        <p:spPr>
          <a:xfrm>
            <a:off x="3030000" y="411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0" name="Shape 10"/>
          <p:cNvSpPr/>
          <p:nvPr/>
        </p:nvSpPr>
        <p:spPr>
          <a:xfrm>
            <a:off x="3630000" y="39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1" name="Shape 11"/>
          <p:cNvSpPr/>
          <p:nvPr/>
        </p:nvSpPr>
        <p:spPr>
          <a:xfrm>
            <a:off x="4280000" y="41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2" name="Shape 12"/>
          <p:cNvSpPr/>
          <p:nvPr/>
        </p:nvSpPr>
        <p:spPr>
          <a:xfrm>
            <a:off x="2080000" y="46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3" name="Shape 13"/>
          <p:cNvSpPr/>
          <p:nvPr/>
        </p:nvSpPr>
        <p:spPr>
          <a:xfrm>
            <a:off x="2730000" y="45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4" name="Shape 14"/>
          <p:cNvSpPr/>
          <p:nvPr/>
        </p:nvSpPr>
        <p:spPr>
          <a:xfrm>
            <a:off x="3380000" y="473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5" name="Shape 15"/>
          <p:cNvSpPr/>
          <p:nvPr/>
        </p:nvSpPr>
        <p:spPr>
          <a:xfrm>
            <a:off x="4030000" y="463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6" name="Shape 16"/>
          <p:cNvSpPr/>
          <p:nvPr/>
        </p:nvSpPr>
        <p:spPr>
          <a:xfrm>
            <a:off x="4630000" y="483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7" name="Shape 17"/>
          <p:cNvSpPr/>
          <p:nvPr/>
        </p:nvSpPr>
        <p:spPr>
          <a:xfrm>
            <a:off x="1880000" y="52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8" name="Shape 18"/>
          <p:cNvSpPr/>
          <p:nvPr/>
        </p:nvSpPr>
        <p:spPr>
          <a:xfrm>
            <a:off x="2530000" y="523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19" name="Shape 19"/>
          <p:cNvSpPr/>
          <p:nvPr/>
        </p:nvSpPr>
        <p:spPr>
          <a:xfrm>
            <a:off x="3180000" y="53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0" name="Shape 20"/>
          <p:cNvSpPr/>
          <p:nvPr/>
        </p:nvSpPr>
        <p:spPr>
          <a:xfrm>
            <a:off x="3830000" y="52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1" name="Shape 21"/>
          <p:cNvSpPr/>
          <p:nvPr/>
        </p:nvSpPr>
        <p:spPr>
          <a:xfrm>
            <a:off x="4480000" y="543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2" name="Shape 22"/>
          <p:cNvSpPr/>
          <p:nvPr/>
        </p:nvSpPr>
        <p:spPr>
          <a:xfrm>
            <a:off x="2230000" y="58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3" name="Shape 23"/>
          <p:cNvSpPr/>
          <p:nvPr/>
        </p:nvSpPr>
        <p:spPr>
          <a:xfrm>
            <a:off x="2930000" y="59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4" name="Shape 24"/>
          <p:cNvSpPr/>
          <p:nvPr/>
        </p:nvSpPr>
        <p:spPr>
          <a:xfrm>
            <a:off x="3630000" y="58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5" name="Shape 25"/>
          <p:cNvSpPr/>
          <p:nvPr/>
        </p:nvSpPr>
        <p:spPr>
          <a:xfrm>
            <a:off x="4230000" y="60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6" name="Shape 26"/>
          <p:cNvSpPr/>
          <p:nvPr/>
        </p:nvSpPr>
        <p:spPr>
          <a:xfrm>
            <a:off x="2580000" y="6280000"/>
            <a:ext cx="140000" cy="140000"/>
          </a:xfrm>
          <a:prstGeom prst="ellipse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cxnSp>
        <p:nvCxnSpPr>
          <p:cNvPr id="27" name="Line 27"/>
          <p:cNvCxnSpPr/>
          <p:nvPr/>
        </p:nvCxnSpPr>
        <p:spPr>
          <a:xfrm>
            <a:off x="5400000" y="5150000"/>
            <a:ext cx="3400000" cy="0"/>
          </a:xfrm>
          <a:prstGeom prst="line">
            <a:avLst/>
          </a:prstGeom>
          <a:ln w="28575" cap="rnd">
            <a:solidFill>
              <a:srgbClr val="C1432E"/>
            </a:solidFill>
            <a:prstDash val="dash"/>
          </a:ln>
        </p:spPr>
      </p:cxnSp>
      <p:sp>
        <p:nvSpPr>
          <p:cNvPr id="28" name="Shape 28"/>
          <p:cNvSpPr/>
          <p:nvPr/>
        </p:nvSpPr>
        <p:spPr>
          <a:xfrm>
            <a:off x="8840000" y="5040000"/>
            <a:ext cx="220000" cy="220000"/>
          </a:xfrm>
          <a:prstGeom prst="ellipse">
            <a:avLst/>
          </a:prstGeom>
          <a:solidFill>
            <a:srgbClr val="C1432E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29" name="Text 29"/>
          <p:cNvSpPr/>
          <p:nvPr/>
        </p:nvSpPr>
        <p:spPr>
          <a:xfrm>
            <a:off x="5800000" y="4650000"/>
            <a:ext cx="3000000" cy="32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kern="0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km ida y vuelta · 1 pedido</a:t>
            </a:r>
            <a:endParaRPr lang="en-US" sz="1400" dirty="0"/>
          </a:p>
        </p:txBody>
      </p:sp>
      <p:sp>
        <p:nvSpPr>
          <p:cNvPr id="30" name="Text 30"/>
          <p:cNvSpPr/>
          <p:nvPr/>
        </p:nvSpPr>
        <p:spPr>
          <a:xfrm>
            <a:off x="1400000" y="7150000"/>
            <a:ext cx="8000000" cy="4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0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 turno, misma ruta: un pedido a 10 km del resto.</a:t>
            </a:r>
            <a:endParaRPr lang="en-US" sz="1400" dirty="0"/>
          </a:p>
        </p:txBody>
      </p:sp>
      <p:sp>
        <p:nvSpPr>
          <p:cNvPr id="31" name="Text 31"/>
          <p:cNvSpPr/>
          <p:nvPr/>
        </p:nvSpPr>
        <p:spPr>
          <a:xfrm>
            <a:off x="10414992" y="292417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3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 EL SALTO</a:t>
            </a:r>
            <a:endParaRPr lang="en-US" sz="1950" dirty="0"/>
          </a:p>
        </p:txBody>
      </p:sp>
      <p:sp>
        <p:nvSpPr>
          <p:cNvPr id="32" name="Text 32"/>
          <p:cNvSpPr/>
          <p:nvPr/>
        </p:nvSpPr>
        <p:spPr>
          <a:xfrm>
            <a:off x="10414992" y="3324170"/>
            <a:ext cx="7010394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km ÷ 20 pedidos  =  </a:t>
            </a:r>
            <a:r>
              <a:rPr lang="en-US" sz="2700" b="1" kern="0" dirty="0">
                <a:solidFill>
                  <a:srgbClr val="2D7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km/pedido</a:t>
            </a:r>
            <a:endParaRPr lang="en-US" sz="2250" dirty="0"/>
          </a:p>
        </p:txBody>
      </p:sp>
      <p:sp>
        <p:nvSpPr>
          <p:cNvPr id="33" name="Text 33"/>
          <p:cNvSpPr/>
          <p:nvPr/>
        </p:nvSpPr>
        <p:spPr>
          <a:xfrm>
            <a:off x="10414992" y="415000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3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EL SALTO</a:t>
            </a:r>
            <a:endParaRPr lang="en-US" sz="1950" dirty="0"/>
          </a:p>
        </p:txBody>
      </p:sp>
      <p:sp>
        <p:nvSpPr>
          <p:cNvPr id="34" name="Text 34"/>
          <p:cNvSpPr/>
          <p:nvPr/>
        </p:nvSpPr>
        <p:spPr>
          <a:xfrm>
            <a:off x="10414992" y="4550000"/>
            <a:ext cx="7010394" cy="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km ÷ 21 pedidos  =  </a:t>
            </a:r>
            <a:r>
              <a:rPr lang="en-US" sz="2700" b="1" kern="0" dirty="0">
                <a:solidFill>
                  <a:srgbClr val="C1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 km/pedido</a:t>
            </a:r>
            <a:endParaRPr lang="en-US" sz="2250" dirty="0"/>
          </a:p>
        </p:txBody>
      </p:sp>
      <p:sp>
        <p:nvSpPr>
          <p:cNvPr id="35" name="Text 35"/>
          <p:cNvSpPr/>
          <p:nvPr/>
        </p:nvSpPr>
        <p:spPr>
          <a:xfrm>
            <a:off x="10414992" y="5350000"/>
            <a:ext cx="7010394" cy="7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kern="0" dirty="0">
                <a:solidFill>
                  <a:srgbClr val="6A7A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pedido aislado sube la medida un 60 %. Sin tratarlo, el baseline miente.</a:t>
            </a:r>
            <a:endParaRPr lang="en-US" sz="1950" dirty="0"/>
          </a:p>
        </p:txBody>
      </p:sp>
      <p:sp>
        <p:nvSpPr>
          <p:cNvPr id="36" name="Text 36"/>
          <p:cNvSpPr/>
          <p:nvPr/>
        </p:nvSpPr>
        <p:spPr>
          <a:xfrm>
            <a:off x="10414992" y="6250000"/>
            <a:ext cx="701039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300" dirty="0">
                <a:solidFill>
                  <a:srgbClr val="6A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HACE LA HERRAMIENTA</a:t>
            </a:r>
            <a:endParaRPr lang="en-US" sz="1950" dirty="0"/>
          </a:p>
        </p:txBody>
      </p:sp>
      <p:sp>
        <p:nvSpPr>
          <p:cNvPr id="37" name="Text 37"/>
          <p:cNvSpPr/>
          <p:nvPr/>
        </p:nvSpPr>
        <p:spPr>
          <a:xfrm>
            <a:off x="10414992" y="6650000"/>
            <a:ext cx="7010394" cy="13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los saltos en el histórico y los aparta de la medida. Y al proponer cambios, no crea saltos nuevos: </a:t>
            </a: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mueve pedidos pegados a lo que la ruta ya recorre.</a:t>
            </a:r>
            <a:endParaRPr lang="en-US" sz="1950" dirty="0"/>
          </a:p>
        </p:txBody>
      </p:sp>
      <p:sp>
        <p:nvSpPr>
          <p:cNvPr id="38" name="Shape 38"/>
          <p:cNvSpPr/>
          <p:nvPr/>
        </p:nvSpPr>
        <p:spPr>
          <a:xfrm>
            <a:off x="1066800" y="8352676"/>
            <a:ext cx="16154400" cy="947737"/>
          </a:xfrm>
          <a:prstGeom prst="roundRect">
            <a:avLst>
              <a:gd name="adj" fmla="val 3770"/>
            </a:avLst>
          </a:prstGeom>
          <a:solidFill>
            <a:srgbClr val="ECE7DC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39" name="Shape 39"/>
          <p:cNvSpPr/>
          <p:nvPr/>
        </p:nvSpPr>
        <p:spPr>
          <a:xfrm>
            <a:off x="1066800" y="8352676"/>
            <a:ext cx="57150" cy="947737"/>
          </a:xfrm>
          <a:prstGeom prst="rect">
            <a:avLst/>
          </a:prstGeom>
          <a:solidFill>
            <a:srgbClr val="2D7A5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0" name="Text 40"/>
          <p:cNvSpPr/>
          <p:nvPr/>
        </p:nvSpPr>
        <p:spPr>
          <a:xfrm>
            <a:off x="1447800" y="8352676"/>
            <a:ext cx="15934182" cy="9477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950" b="1" kern="0" dirty="0">
                <a:solidFill>
                  <a:srgbClr val="0F1D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limpio y proponer limpio: </a:t>
            </a:r>
            <a:r>
              <a:rPr lang="en-US" sz="1950" kern="0" dirty="0">
                <a:solidFill>
                  <a:srgbClr val="2A3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áreas compactas, sin pedidos huérfanos.</a:t>
            </a:r>
            <a:endParaRPr lang="en-US" sz="1950" dirty="0"/>
          </a:p>
        </p:txBody>
      </p:sp>
      <p:sp>
        <p:nvSpPr>
          <p:cNvPr id="41" name="Shape 41"/>
          <p:cNvSpPr/>
          <p:nvPr/>
        </p:nvSpPr>
        <p:spPr>
          <a:xfrm>
            <a:off x="1066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2" name="Shape 42"/>
          <p:cNvSpPr/>
          <p:nvPr/>
        </p:nvSpPr>
        <p:spPr>
          <a:xfrm>
            <a:off x="1600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3" name="Shape 43"/>
          <p:cNvSpPr/>
          <p:nvPr/>
        </p:nvSpPr>
        <p:spPr>
          <a:xfrm>
            <a:off x="21336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4" name="Shape 44"/>
          <p:cNvSpPr/>
          <p:nvPr/>
        </p:nvSpPr>
        <p:spPr>
          <a:xfrm>
            <a:off x="26670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5" name="Shape 45"/>
          <p:cNvSpPr/>
          <p:nvPr/>
        </p:nvSpPr>
        <p:spPr>
          <a:xfrm>
            <a:off x="32004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1E4F3A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6" name="Shape 46"/>
          <p:cNvSpPr/>
          <p:nvPr/>
        </p:nvSpPr>
        <p:spPr>
          <a:xfrm>
            <a:off x="37338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  <p:sp>
        <p:nvSpPr>
          <p:cNvPr id="47" name="Shape 47"/>
          <p:cNvSpPr/>
          <p:nvPr/>
        </p:nvSpPr>
        <p:spPr>
          <a:xfrm>
            <a:off x="4267200" y="9705975"/>
            <a:ext cx="438150" cy="66675"/>
          </a:xfrm>
          <a:prstGeom prst="roundRect">
            <a:avLst>
              <a:gd name="adj" fmla="val 50000"/>
            </a:avLst>
          </a:prstGeom>
          <a:solidFill>
            <a:srgbClr val="CFC7B5"/>
          </a:solidFill>
          <a:ln/>
          <a:effectLst/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766</Words>
  <Application>Microsoft Macintosh PowerPoint</Application>
  <PresentationFormat>Personalizado</PresentationFormat>
  <Paragraphs>128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Carlos Albiach Perez</cp:lastModifiedBy>
  <cp:revision>2</cp:revision>
  <dcterms:created xsi:type="dcterms:W3CDTF">2026-06-10T16:56:37Z</dcterms:created>
  <dcterms:modified xsi:type="dcterms:W3CDTF">2026-06-10T16:59:10Z</dcterms:modified>
</cp:coreProperties>
</file>