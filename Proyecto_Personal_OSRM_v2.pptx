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71" r:id="rId13"/>
    <p:sldId id="272" r:id="rId14"/>
    <p:sldId id="274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354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536186"/>
            <a:ext cx="115766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OPERATIVA DE REPARTO · COLMENAS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156332"/>
            <a:ext cx="11576685" cy="989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200" b="1" kern="0" spc="-13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por el final.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66800" y="4472655"/>
            <a:ext cx="6874883" cy="32063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 </a:t>
            </a:r>
            <a:r>
              <a:rPr lang="en-US" sz="3150" i="1" dirty="0">
                <a:solidFill>
                  <a:srgbClr val="A82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Beauty </a:t>
            </a: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primero veremos el informe ya terminado. Luego rebobinamos para entender de dónde sale cada bloque, qué herramienta lo alimenta y qué decisiones lo construyen.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813" y="8615063"/>
            <a:ext cx="742950" cy="533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616163" y="8753176"/>
            <a:ext cx="16812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REBOBINAR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INFORME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7357986" cy="1821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Empecemos por el final: la foto que llega cada mes.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973668"/>
            <a:ext cx="9364266" cy="4953000"/>
          </a:xfrm>
          <a:prstGeom prst="roundRect">
            <a:avLst>
              <a:gd name="adj" fmla="val 1154"/>
            </a:avLst>
          </a:prstGeom>
          <a:solidFill>
            <a:srgbClr val="FBFAF5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1040666" y="549994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entregable.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1040666" y="621811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final.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040666" y="693628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b="1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 Rutinario.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354839"/>
            <a:ext cx="107918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A82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PERO…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974985"/>
            <a:ext cx="10791825" cy="18607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900" b="1" kern="0" spc="-12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hemos llegado hasta aquí?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66800" y="5182120"/>
            <a:ext cx="5499922" cy="2678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bloque del informe procede de una fuente distinta y de decisiones tomadas con herramientas específicas. Rebobinamos.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RECORRIDO DEL DATO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 la palanca; de la palanca al papel.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aparece en el informe ha pasado antes por aquí.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4250000"/>
            <a:ext cx="5089144" cy="35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425000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462147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DECISIONES</a:t>
            </a:r>
            <a:endParaRPr lang="en-US" sz="1800" dirty="0"/>
          </a:p>
        </p:txBody>
      </p:sp>
      <p:sp>
        <p:nvSpPr>
          <p:cNvPr id="8" name="Shape 8"/>
          <p:cNvSpPr/>
          <p:nvPr/>
        </p:nvSpPr>
        <p:spPr>
          <a:xfrm>
            <a:off x="1390650" y="510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9" name="Text 9"/>
          <p:cNvSpPr/>
          <p:nvPr/>
        </p:nvSpPr>
        <p:spPr>
          <a:xfrm>
            <a:off x="1626800" y="521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crudos</a:t>
            </a:r>
            <a:endParaRPr lang="en-US" sz="1950" dirty="0"/>
          </a:p>
        </p:txBody>
      </p:sp>
      <p:sp>
        <p:nvSpPr>
          <p:cNvPr id="10" name="Text 10"/>
          <p:cNvSpPr/>
          <p:nvPr/>
        </p:nvSpPr>
        <p:spPr>
          <a:xfrm>
            <a:off x="1626800" y="559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tablas · coordenadas · demanda</a:t>
            </a:r>
            <a:endParaRPr lang="en-US" sz="1500" dirty="0"/>
          </a:p>
        </p:txBody>
      </p:sp>
      <p:sp>
        <p:nvSpPr>
          <p:cNvPr id="11" name="Text 11"/>
          <p:cNvSpPr/>
          <p:nvPr/>
        </p:nvSpPr>
        <p:spPr>
          <a:xfrm>
            <a:off x="1390650" y="5980000"/>
            <a:ext cx="4441444" cy="33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b="1" kern="0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100" dirty="0"/>
          </a:p>
        </p:txBody>
      </p:sp>
      <p:sp>
        <p:nvSpPr>
          <p:cNvPr id="12" name="Shape 12"/>
          <p:cNvSpPr/>
          <p:nvPr/>
        </p:nvSpPr>
        <p:spPr>
          <a:xfrm>
            <a:off x="1390650" y="631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3" name="Text 13"/>
          <p:cNvSpPr/>
          <p:nvPr/>
        </p:nvSpPr>
        <p:spPr>
          <a:xfrm>
            <a:off x="1626800" y="642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</a:t>
            </a:r>
            <a:endParaRPr lang="en-US" sz="1950" dirty="0"/>
          </a:p>
        </p:txBody>
      </p:sp>
      <p:sp>
        <p:nvSpPr>
          <p:cNvPr id="14" name="Text 14"/>
          <p:cNvSpPr/>
          <p:nvPr/>
        </p:nvSpPr>
        <p:spPr>
          <a:xfrm>
            <a:off x="1626800" y="680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Metabase · mapa de áreas</a:t>
            </a:r>
            <a:endParaRPr lang="en-US" sz="1500" dirty="0"/>
          </a:p>
        </p:txBody>
      </p:sp>
      <p:sp>
        <p:nvSpPr>
          <p:cNvPr id="15" name="Text 15"/>
          <p:cNvSpPr/>
          <p:nvPr/>
        </p:nvSpPr>
        <p:spPr>
          <a:xfrm>
            <a:off x="1390650" y="7310000"/>
            <a:ext cx="444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kern="0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estas dos patas se decide.</a:t>
            </a:r>
            <a:endParaRPr lang="en-US" sz="1600" dirty="0"/>
          </a:p>
        </p:txBody>
      </p:sp>
      <p:sp>
        <p:nvSpPr>
          <p:cNvPr id="16" name="Shape 16"/>
          <p:cNvSpPr/>
          <p:nvPr/>
        </p:nvSpPr>
        <p:spPr>
          <a:xfrm>
            <a:off x="6841744" y="4250000"/>
            <a:ext cx="5089144" cy="3500000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7"/>
          <p:cNvSpPr/>
          <p:nvPr/>
        </p:nvSpPr>
        <p:spPr>
          <a:xfrm>
            <a:off x="6841744" y="4250000"/>
            <a:ext cx="5089144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8" name="Text 18"/>
          <p:cNvSpPr/>
          <p:nvPr/>
        </p:nvSpPr>
        <p:spPr>
          <a:xfrm>
            <a:off x="7165594" y="462147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ACCIONES</a:t>
            </a:r>
            <a:endParaRPr lang="en-US" sz="1800" dirty="0"/>
          </a:p>
        </p:txBody>
      </p:sp>
      <p:sp>
        <p:nvSpPr>
          <p:cNvPr id="19" name="Shape 19"/>
          <p:cNvSpPr/>
          <p:nvPr/>
        </p:nvSpPr>
        <p:spPr>
          <a:xfrm>
            <a:off x="7165594" y="510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0" name="Text 20"/>
          <p:cNvSpPr/>
          <p:nvPr/>
        </p:nvSpPr>
        <p:spPr>
          <a:xfrm>
            <a:off x="7401744" y="521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Palanca 1 · Productividad</a:t>
            </a:r>
            <a:endParaRPr lang="en-US" sz="1950" dirty="0"/>
          </a:p>
        </p:txBody>
      </p:sp>
      <p:sp>
        <p:nvSpPr>
          <p:cNvPr id="21" name="Text 21"/>
          <p:cNvSpPr/>
          <p:nvPr/>
        </p:nvSpPr>
        <p:spPr>
          <a:xfrm>
            <a:off x="7401744" y="559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ajusta operativa a operativa</a:t>
            </a:r>
            <a:endParaRPr lang="en-US" sz="1500" dirty="0"/>
          </a:p>
        </p:txBody>
      </p:sp>
      <p:sp>
        <p:nvSpPr>
          <p:cNvPr id="22" name="Text 22"/>
          <p:cNvSpPr/>
          <p:nvPr/>
        </p:nvSpPr>
        <p:spPr>
          <a:xfrm>
            <a:off x="7165594" y="5980000"/>
            <a:ext cx="4441444" cy="33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b="1" kern="0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100" dirty="0"/>
          </a:p>
        </p:txBody>
      </p:sp>
      <p:sp>
        <p:nvSpPr>
          <p:cNvPr id="23" name="Shape 23"/>
          <p:cNvSpPr/>
          <p:nvPr/>
        </p:nvSpPr>
        <p:spPr>
          <a:xfrm>
            <a:off x="7165594" y="6310000"/>
            <a:ext cx="4441444" cy="880000"/>
          </a:xfrm>
          <a:prstGeom prst="roundRect">
            <a:avLst>
              <a:gd name="adj" fmla="val 8000"/>
            </a:avLst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Text 24"/>
          <p:cNvSpPr/>
          <p:nvPr/>
        </p:nvSpPr>
        <p:spPr>
          <a:xfrm>
            <a:off x="7401744" y="6420000"/>
            <a:ext cx="3971444" cy="3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Palanca 2 · Áreas</a:t>
            </a:r>
            <a:endParaRPr lang="en-US" sz="1950" dirty="0"/>
          </a:p>
        </p:txBody>
      </p:sp>
      <p:sp>
        <p:nvSpPr>
          <p:cNvPr id="25" name="Text 25"/>
          <p:cNvSpPr/>
          <p:nvPr/>
        </p:nvSpPr>
        <p:spPr>
          <a:xfrm>
            <a:off x="7401744" y="6800000"/>
            <a:ext cx="397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margen estructural</a:t>
            </a:r>
            <a:endParaRPr lang="en-US" sz="1500" dirty="0"/>
          </a:p>
        </p:txBody>
      </p:sp>
      <p:sp>
        <p:nvSpPr>
          <p:cNvPr id="26" name="Text 26"/>
          <p:cNvSpPr/>
          <p:nvPr/>
        </p:nvSpPr>
        <p:spPr>
          <a:xfrm>
            <a:off x="7165594" y="7310000"/>
            <a:ext cx="4441444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kern="0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guion de esta presentación.</a:t>
            </a:r>
            <a:endParaRPr lang="en-US" sz="1600" dirty="0"/>
          </a:p>
        </p:txBody>
      </p:sp>
      <p:sp>
        <p:nvSpPr>
          <p:cNvPr id="27" name="Shape 27"/>
          <p:cNvSpPr/>
          <p:nvPr/>
        </p:nvSpPr>
        <p:spPr>
          <a:xfrm>
            <a:off x="12616688" y="4250000"/>
            <a:ext cx="5089144" cy="35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12616688" y="425000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Text 29"/>
          <p:cNvSpPr/>
          <p:nvPr/>
        </p:nvSpPr>
        <p:spPr>
          <a:xfrm>
            <a:off x="12940538" y="462147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INFORME</a:t>
            </a:r>
            <a:endParaRPr lang="en-US" sz="1800" dirty="0"/>
          </a:p>
        </p:txBody>
      </p:sp>
      <p:sp>
        <p:nvSpPr>
          <p:cNvPr id="30" name="Text 30"/>
          <p:cNvSpPr/>
          <p:nvPr/>
        </p:nvSpPr>
        <p:spPr>
          <a:xfrm>
            <a:off x="12940538" y="550000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Plasmar los cambios</a:t>
            </a:r>
            <a:endParaRPr lang="en-US" sz="2250" dirty="0"/>
          </a:p>
        </p:txBody>
      </p:sp>
      <p:sp>
        <p:nvSpPr>
          <p:cNvPr id="31" name="Text 31"/>
          <p:cNvSpPr/>
          <p:nvPr/>
        </p:nvSpPr>
        <p:spPr>
          <a:xfrm>
            <a:off x="12940538" y="5950000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que poner al día: deja constancia de los movimientos del mes y de su porqué.</a:t>
            </a:r>
            <a:endParaRPr lang="en-US" sz="1800" dirty="0"/>
          </a:p>
        </p:txBody>
      </p:sp>
      <p:sp>
        <p:nvSpPr>
          <p:cNvPr id="32" name="Text 32"/>
          <p:cNvSpPr/>
          <p:nvPr/>
        </p:nvSpPr>
        <p:spPr>
          <a:xfrm>
            <a:off x="6117844" y="5771400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33" name="Text 33"/>
          <p:cNvSpPr/>
          <p:nvPr/>
        </p:nvSpPr>
        <p:spPr>
          <a:xfrm>
            <a:off x="11892788" y="5771400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34" name="Shape 34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5" name="Shape 35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6" name="Text 36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palancas marcan el guion a partir de aquí: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la productividad; cuando se agota, las áreas.</a:t>
            </a:r>
            <a:endParaRPr lang="en-US" sz="1950" dirty="0"/>
          </a:p>
        </p:txBody>
      </p:sp>
      <p:sp>
        <p:nvSpPr>
          <p:cNvPr id="37" name="Shape 37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8" name="Shape 38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9" name="Shape 39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0" name="Shape 40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1" name="Shape 41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2" name="Shape 42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3" name="Shape 43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LA PRIMERA PALANCA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una operativa?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566706"/>
            <a:ext cx="4683249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66800" y="2566706"/>
            <a:ext cx="4683249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90650" y="2938181"/>
            <a:ext cx="415661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90650" y="3547781"/>
            <a:ext cx="41566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Agrupación de CPs (ej. Embajadores, Chamartín, Jerez)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54849" y="2566706"/>
            <a:ext cx="4426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6802338" y="2566706"/>
            <a:ext cx="4683323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802338" y="2566706"/>
            <a:ext cx="4683323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126188" y="2938181"/>
            <a:ext cx="415669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7126188" y="3547781"/>
            <a:ext cx="4156692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Franja horaria (morning · afternoon · bridge)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790462" y="2566706"/>
            <a:ext cx="4426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12537951" y="2566706"/>
            <a:ext cx="4683249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12537951" y="2566706"/>
            <a:ext cx="4683249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12861801" y="2938181"/>
            <a:ext cx="415661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COLMENA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861801" y="3547781"/>
            <a:ext cx="41566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de origen (VLC1, SVQ1, MAD1, BCN1…)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5038062"/>
            <a:ext cx="57150" cy="10001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1390650" y="5323812"/>
            <a:ext cx="15991332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</a:t>
            </a: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MAD1 · Embajadores · morning. </a:t>
            </a:r>
            <a:r>
              <a:rPr lang="en-US" sz="22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Otra distinta sería MAD1 · Embajadores · afternoon.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1" name="Text 201"/>
          <p:cNvSpPr/>
          <p:nvPr/>
        </p:nvSpPr>
        <p:spPr>
          <a:xfrm>
            <a:off x="1066800" y="6500000"/>
            <a:ext cx="16639032" cy="7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 porque la productividad no se ajusta en bloque: </a:t>
            </a: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toca operativa a operativa.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4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127921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PALANCA 1 · PRODUCTIVIDAD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709793"/>
            <a:ext cx="16639032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800" b="1" kern="0" spc="-234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Retrasos por colmena.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66800" y="6054465"/>
            <a:ext cx="785703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Detectar, profundizar, entender la causa. Sin esto, no hay ajuste de productividad que valga.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4935126" y="876300"/>
            <a:ext cx="236227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F4F1EA">
                    <a:alpha val="1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VISTA GLOBAL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dashboard de Metabase, de un vistazo.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283912"/>
            <a:ext cx="8570565" cy="5143500"/>
          </a:xfrm>
          <a:prstGeom prst="roundRect">
            <a:avLst>
              <a:gd name="adj" fmla="val 1111"/>
            </a:avLst>
          </a:prstGeom>
          <a:solidFill>
            <a:srgbClr val="FBFAF5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208865" y="3866942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0208865" y="4205080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0860435" y="4166980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semanal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860435" y="4557505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colmena frente a la línea de alerta del 3 %.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208865" y="5189950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208865" y="5528088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860435" y="5489988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retrasos del mes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0860435" y="5880513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Agregado del periodo, colmena a colmena.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208865" y="7835965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10208865" y="6512958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10208865" y="6851095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860435" y="6812995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histórica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60435" y="7203520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al mes anterior y al año anterior.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DETECCIÓN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que dispara la revisión.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714954"/>
            <a:ext cx="8662392" cy="495300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414992" y="29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14992" y="3319458"/>
            <a:ext cx="7010394" cy="949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800" b="1" kern="0" spc="-312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&gt;3 %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10414992" y="4345107"/>
            <a:ext cx="340471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pedidos llegando tarde frente al objetivo del 3 %.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14992" y="5404168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0414992" y="5713730"/>
            <a:ext cx="656630" cy="1119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800" b="1" kern="0" spc="-312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800" dirty="0"/>
          </a:p>
        </p:txBody>
      </p:sp>
      <p:sp>
        <p:nvSpPr>
          <p:cNvPr id="10" name="Text 8"/>
          <p:cNvSpPr/>
          <p:nvPr/>
        </p:nvSpPr>
        <p:spPr>
          <a:xfrm>
            <a:off x="10995422" y="6199505"/>
            <a:ext cx="206789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0414992" y="6825104"/>
            <a:ext cx="340471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completas y consecutivas. Cronicidad, no picos.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8040"/>
            </a:avLst>
          </a:prstGeom>
          <a:solidFill>
            <a:srgbClr val="ECE7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447800" y="8638426"/>
            <a:ext cx="15934182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2A3A33"/>
                </a:solidFill>
                <a:highlight>
                  <a:srgbClr val="ECE7D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Cruzar el umbral </a:t>
            </a:r>
            <a:r>
              <a:rPr lang="en-US" sz="19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</a:t>
            </a:r>
            <a:r>
              <a:rPr lang="en-US" sz="1950" dirty="0">
                <a:solidFill>
                  <a:srgbClr val="2A3A33"/>
                </a:solidFill>
                <a:highlight>
                  <a:srgbClr val="ECE7D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significa bajar productividad. Significa entrar en revisión y hacerse </a:t>
            </a:r>
            <a:r>
              <a:rPr lang="en-US" sz="19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pregunta.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CAUSA RAÍZ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1037017" cy="1226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basta con detectar el retraso. Hay que entender de dónde viene.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2931765"/>
            <a:ext cx="1663903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retraso viene de una salida tardía del centro?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66800" y="3546820"/>
            <a:ext cx="7886700" cy="5117827"/>
          </a:xfrm>
          <a:prstGeom prst="roundRect">
            <a:avLst>
              <a:gd name="adj" fmla="val 1861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066800" y="3546820"/>
            <a:ext cx="7886700" cy="47625"/>
          </a:xfrm>
          <a:prstGeom prst="rect">
            <a:avLst/>
          </a:prstGeom>
          <a:solidFill>
            <a:srgbClr val="6A7A7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1390650" y="3918295"/>
            <a:ext cx="74561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0650" y="4346920"/>
            <a:ext cx="745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está aguas arriba.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90650" y="4794595"/>
            <a:ext cx="7456170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Preparación, carga, salida de muelle. </a:t>
            </a:r>
            <a:r>
              <a:rPr lang="en-US" sz="1950" i="1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toca la productividad de la operativa.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34500" y="3549725"/>
            <a:ext cx="7886700" cy="5117827"/>
          </a:xfrm>
          <a:prstGeom prst="roundRect">
            <a:avLst>
              <a:gd name="adj" fmla="val 1861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9334500" y="3549725"/>
            <a:ext cx="78867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9658350" y="3921200"/>
            <a:ext cx="74561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58350" y="4349825"/>
            <a:ext cx="745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en hora, vuelve en hora.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658350" y="4797500"/>
            <a:ext cx="7456170" cy="1115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cabe en su ventana y aun así llega tarde. Entramos a evaluar </a:t>
            </a:r>
            <a:r>
              <a:rPr lang="en-US" sz="1950" b="1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bajar productividad. </a:t>
            </a: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validada con Rutinario.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066800" y="8949705"/>
            <a:ext cx="11349045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filtro evita penalizar operativas que en realidad funcionan bien pero arrancan tarde.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OTRA CARA · SUBIDAS DE PRODUCTIVIDAD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todo es bajar. También se sube.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4378182"/>
            <a:ext cx="817059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66800" y="4811569"/>
            <a:ext cx="8170592" cy="1334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1100" b="1" kern="0" spc="-444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&lt;1,5 %</a:t>
            </a:r>
            <a:endParaRPr lang="en-US" sz="11100" dirty="0"/>
          </a:p>
        </p:txBody>
      </p:sp>
      <p:sp>
        <p:nvSpPr>
          <p:cNvPr id="6" name="Text 4"/>
          <p:cNvSpPr/>
          <p:nvPr/>
        </p:nvSpPr>
        <p:spPr>
          <a:xfrm>
            <a:off x="1066800" y="6318007"/>
            <a:ext cx="3666615" cy="11676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retrasos de forma sostenida </a:t>
            </a:r>
            <a:r>
              <a:rPr lang="en-US" sz="21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margen por volumen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85213" y="4732258"/>
            <a:ext cx="77619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CRITERIO DE OFICIALIZACIÓN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85213" y="5275183"/>
            <a:ext cx="3634606" cy="1824038"/>
          </a:xfrm>
          <a:prstGeom prst="roundRect">
            <a:avLst>
              <a:gd name="adj" fmla="val 522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9685213" y="5275183"/>
            <a:ext cx="3634606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009063" y="5646658"/>
            <a:ext cx="1554733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b="1" kern="0" spc="-16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0,5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0009063" y="6513433"/>
            <a:ext cx="10927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/ día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586520" y="5275183"/>
            <a:ext cx="3634606" cy="1824038"/>
          </a:xfrm>
          <a:prstGeom prst="roundRect">
            <a:avLst>
              <a:gd name="adj" fmla="val 522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3586520" y="5275183"/>
            <a:ext cx="3634606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3910370" y="5646658"/>
            <a:ext cx="100779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b="1" kern="0" spc="-16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910370" y="6465808"/>
            <a:ext cx="99104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cols / día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4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1673504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PALANCA 2 · ÁREAS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255550"/>
            <a:ext cx="16639032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800" b="1" kern="0" spc="-234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pasa cuando nos estancamos?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66800" y="4600500"/>
            <a:ext cx="8249844" cy="2036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productividad tiene un techo: llega un punto en el que ajustarla ya no da más de sí. ¿Tenemos más herramientas para seguir mejorando? </a:t>
            </a:r>
            <a:r>
              <a:rPr lang="en-US" sz="27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Sí: las áreas.</a:t>
            </a: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7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66800" y="6846317"/>
            <a:ext cx="7107888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bien las áreas es una palanca de productividad en los dos sentidos: subirla donde hay margen, y bajar retrasos estructurales sin tener que bajarla.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4935126" y="876300"/>
            <a:ext cx="236227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F4F1EA">
                    <a:alpha val="1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0" dirty="0"/>
          </a:p>
        </p:txBody>
      </p:sp>
      <p:sp>
        <p:nvSpPr>
          <p:cNvPr id="7" name="Shape 5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ÁREAS · FUSIÓN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herramienta es parcial. Juntas son la decisión.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8181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66800" y="3818132"/>
            <a:ext cx="46482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90650" y="41896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HERRAMIENTA 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46182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reales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390650" y="5065907"/>
            <a:ext cx="41205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Coordenadas históricas + saltos detectados. La realidad de la carretera.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76900" y="3818132"/>
            <a:ext cx="1181100" cy="258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50" dirty="0"/>
          </a:p>
        </p:txBody>
      </p:sp>
      <p:sp>
        <p:nvSpPr>
          <p:cNvPr id="10" name="Shape 8"/>
          <p:cNvSpPr/>
          <p:nvPr/>
        </p:nvSpPr>
        <p:spPr>
          <a:xfrm>
            <a:off x="6819900" y="38181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1" name="Shape 9"/>
          <p:cNvSpPr/>
          <p:nvPr/>
        </p:nvSpPr>
        <p:spPr>
          <a:xfrm>
            <a:off x="6819900" y="3818132"/>
            <a:ext cx="46482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143750" y="41896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43750" y="46182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7143750" y="5065907"/>
            <a:ext cx="4120515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visual + </a:t>
            </a:r>
            <a:r>
              <a:rPr lang="en-US" sz="1800" dirty="0" err="1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previsualización</a:t>
            </a: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0" y="3821032"/>
            <a:ext cx="1181100" cy="258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50" dirty="0"/>
          </a:p>
        </p:txBody>
      </p:sp>
      <p:sp>
        <p:nvSpPr>
          <p:cNvPr id="16" name="Shape 14"/>
          <p:cNvSpPr/>
          <p:nvPr/>
        </p:nvSpPr>
        <p:spPr>
          <a:xfrm>
            <a:off x="12573000" y="38210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2573000" y="3821032"/>
            <a:ext cx="4648200" cy="47625"/>
          </a:xfrm>
          <a:prstGeom prst="rect">
            <a:avLst/>
          </a:prstGeom>
          <a:solidFill>
            <a:srgbClr val="8FBBA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12896850" y="41925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FUSIÓN A + B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96850" y="46211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sabia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896850" y="5068807"/>
            <a:ext cx="41205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real validado por demanda y geografía. De un vistazo.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2535" y="6781949"/>
            <a:ext cx="431673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FORTALEZA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2535" y="7115324"/>
            <a:ext cx="43167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 real de las rutas.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819900" y="6781949"/>
            <a:ext cx="14288" cy="653355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11453813" y="6781949"/>
            <a:ext cx="14288" cy="653355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000351" y="6781949"/>
            <a:ext cx="42872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00351" y="7115324"/>
            <a:ext cx="428729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 un vistazo ver si tiene sentido».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738735" y="6781949"/>
            <a:ext cx="431673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SIGUIENTE PASO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738735" y="7115324"/>
            <a:ext cx="43167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con Rutinario.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658523"/>
            <a:ext cx="115766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 DEL CÍRCULO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278670"/>
            <a:ext cx="11576685" cy="17814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600" b="1" kern="0" spc="-119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bloque del informe ya tiene un origen.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66800" y="5406482"/>
            <a:ext cx="5499922" cy="2150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final </a:t>
            </a:r>
            <a:r>
              <a:rPr lang="en-US" sz="3150" i="1" dirty="0">
                <a:solidFill>
                  <a:srgbClr val="A82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no es solo una foto </a:t>
            </a: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Es el resumen de un proceso que podemos seguir paso a paso.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301701"/>
            <a:ext cx="125577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OBJETIVO DE FONDO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921511"/>
            <a:ext cx="11184178" cy="229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b="1" kern="0" spc="-103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 este trabajo de la forma más eficiente y sencilla posible.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1066800" y="5602041"/>
            <a:ext cx="9035547" cy="2310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herramienta que mejoramos, cada umbral que afinamos, cada paso que automatizamos va en la misma dirección: que las decisiones sean cada vez </a:t>
            </a:r>
            <a:r>
              <a:rPr lang="en-US" sz="2700" b="1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difíciles de tomar </a:t>
            </a:r>
            <a:r>
              <a:rPr lang="en-US" sz="27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más basadas en datos y más ajustadas a la realidad.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PALANCA 2 · LA HERRAMIENTA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histórico como farola.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Mejorar las áreas que ya tenemos configuradas usando el </a:t>
            </a: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rutas reales</a:t>
            </a: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como farola: ilumina cómo se recorre hoy cada zona para encontrar cómo recorrerla mejor.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ENTRADA</a:t>
            </a:r>
            <a:endParaRPr lang="en-US" sz="1800" dirty="0"/>
          </a:p>
        </p:txBody>
      </p:sp>
      <p:sp>
        <p:nvSpPr>
          <p:cNvPr id="8" name="Text 8"/>
          <p:cNvSpPr/>
          <p:nvPr/>
        </p:nvSpPr>
        <p:spPr>
          <a:xfrm>
            <a:off x="1390650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histórico</a:t>
            </a:r>
            <a:endParaRPr lang="en-US" sz="2250" dirty="0"/>
          </a:p>
        </p:txBody>
      </p:sp>
      <p:sp>
        <p:nvSpPr>
          <p:cNvPr id="9" name="Text 9"/>
          <p:cNvSpPr/>
          <p:nvPr/>
        </p:nvSpPr>
        <p:spPr>
          <a:xfrm>
            <a:off x="1390650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coordenadas reales de entrega de cada operativa: dónde paró cada ruta, día a día.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6841744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6841744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Text 12"/>
          <p:cNvSpPr/>
          <p:nvPr/>
        </p:nvSpPr>
        <p:spPr>
          <a:xfrm>
            <a:off x="7165594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MOTOR</a:t>
            </a:r>
            <a:endParaRPr lang="en-US" sz="1800" dirty="0"/>
          </a:p>
        </p:txBody>
      </p:sp>
      <p:sp>
        <p:nvSpPr>
          <p:cNvPr id="13" name="Text 13"/>
          <p:cNvSpPr/>
          <p:nvPr/>
        </p:nvSpPr>
        <p:spPr>
          <a:xfrm>
            <a:off x="7165594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OSRM</a:t>
            </a:r>
            <a:endParaRPr lang="en-US" sz="2250" dirty="0"/>
          </a:p>
        </p:txBody>
      </p:sp>
      <p:sp>
        <p:nvSpPr>
          <p:cNvPr id="14" name="Text 14"/>
          <p:cNvSpPr/>
          <p:nvPr/>
        </p:nvSpPr>
        <p:spPr>
          <a:xfrm>
            <a:off x="7165594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motor de rutas abierto que convierte esas coordenadas en km reales por carretera. No línea recta: carretera.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2616688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6"/>
          <p:cNvSpPr/>
          <p:nvPr/>
        </p:nvSpPr>
        <p:spPr>
          <a:xfrm>
            <a:off x="12616688" y="4621060"/>
            <a:ext cx="5089144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7" name="Text 17"/>
          <p:cNvSpPr/>
          <p:nvPr/>
        </p:nvSpPr>
        <p:spPr>
          <a:xfrm>
            <a:off x="12940538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SALIDA</a:t>
            </a:r>
            <a:endParaRPr lang="en-US" sz="1800" dirty="0"/>
          </a:p>
        </p:txBody>
      </p:sp>
      <p:sp>
        <p:nvSpPr>
          <p:cNvPr id="18" name="Text 18"/>
          <p:cNvSpPr/>
          <p:nvPr/>
        </p:nvSpPr>
        <p:spPr>
          <a:xfrm>
            <a:off x="12940538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km/pedido</a:t>
            </a:r>
            <a:endParaRPr lang="en-US" sz="2250" dirty="0"/>
          </a:p>
        </p:txBody>
      </p:sp>
      <p:sp>
        <p:nvSpPr>
          <p:cNvPr id="19" name="Text 19"/>
          <p:cNvSpPr/>
          <p:nvPr/>
        </p:nvSpPr>
        <p:spPr>
          <a:xfrm>
            <a:off x="12940538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métrica por área: cuántos km cuesta cada pedido. Y propuestas concretas para reducirla.</a:t>
            </a:r>
            <a:endParaRPr lang="en-US" sz="1800" dirty="0"/>
          </a:p>
        </p:txBody>
      </p:sp>
      <p:sp>
        <p:nvSpPr>
          <p:cNvPr id="20" name="Text 20"/>
          <p:cNvSpPr/>
          <p:nvPr/>
        </p:nvSpPr>
        <p:spPr>
          <a:xfrm>
            <a:off x="6117844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1" name="Text 21"/>
          <p:cNvSpPr/>
          <p:nvPr/>
        </p:nvSpPr>
        <p:spPr>
          <a:xfrm>
            <a:off x="11892788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2" name="Shape 22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3" name="Shape 23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Text 24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en desarrollo: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importante hoy es la idea — qué mide, cómo lo mide y para qué sirve.</a:t>
            </a:r>
            <a:endParaRPr lang="en-US" sz="1950" dirty="0"/>
          </a:p>
        </p:txBody>
      </p:sp>
      <p:sp>
        <p:nvSpPr>
          <p:cNvPr id="25" name="Shape 25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6" name="Shape 26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7" name="Shape 27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Shape 29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0" name="Shape 30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1" name="Shape 31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EL PROBLEMA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Saltos: más de 10 km entre dos pedidos seguidos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3200400"/>
            <a:ext cx="7315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ruta entrega en una zona, cruza media área en vacío y sigue entregando en otra. Ese tramo es un salto.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salto no entrega nada: son kilómetros y minutos de furgoneta vacía que pagamos todos los días — y la primera causa de operativas tensionadas.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97280" y="7589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&gt;10 km</a:t>
            </a:r>
            <a:endParaRPr lang="en-US" sz="8000" dirty="0"/>
          </a:p>
          <a:p>
            <a:pPr indent="0" marL="0">
              <a:buNone/>
            </a:pPr>
            <a:r>
              <a:rPr lang="en-US" sz="2400" dirty="0">
                <a:solidFill>
                  <a:srgbClr val="6A7A72"/>
                </a:solidFill>
              </a:rPr>
              <a:t>entre dos pedidos consecutivos = salto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9144000" y="2926080"/>
            <a:ext cx="8046720" cy="6217920"/>
          </a:xfrm>
          <a:prstGeom prst="roundRect">
            <a:avLst>
              <a:gd name="adj" fmla="val 1765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3840480"/>
            <a:ext cx="2377440" cy="4206240"/>
          </a:xfrm>
          <a:prstGeom prst="roundRect">
            <a:avLst>
              <a:gd name="adj" fmla="val 6154"/>
            </a:avLst>
          </a:prstGeom>
          <a:solidFill>
            <a:srgbClr val="0D0F14">
              <a:alpha val="0"/>
            </a:srgbClr>
          </a:solidFill>
          <a:ln w="25400">
            <a:solidFill>
              <a:srgbClr val="CFC7B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081760" y="3840480"/>
            <a:ext cx="2377440" cy="4206240"/>
          </a:xfrm>
          <a:prstGeom prst="roundRect">
            <a:avLst>
              <a:gd name="adj" fmla="val 6154"/>
            </a:avLst>
          </a:prstGeom>
          <a:solidFill>
            <a:srgbClr val="0D0F14">
              <a:alpha val="0"/>
            </a:srgbClr>
          </a:solidFill>
          <a:ln w="25400">
            <a:solidFill>
              <a:srgbClr val="CFC7B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9875520" y="81381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zona 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081760" y="81381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zona 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24160" y="4480560"/>
            <a:ext cx="274320" cy="91440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424160" y="5394960"/>
            <a:ext cx="274320" cy="100584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4160" y="6400800"/>
            <a:ext cx="457200" cy="100584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81360" y="4572000"/>
            <a:ext cx="3749040" cy="2834640"/>
          </a:xfrm>
          <a:prstGeom prst="line">
            <a:avLst/>
          </a:prstGeom>
          <a:noFill/>
          <a:ln w="76200">
            <a:solidFill>
              <a:srgbClr val="C143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630400" y="4572000"/>
            <a:ext cx="457200" cy="109728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14813280" y="5669280"/>
            <a:ext cx="274320" cy="118872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23576" y="437997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97896" y="529437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23576" y="630021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80776" y="730605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529816" y="447141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987016" y="556869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712696" y="675741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252960" y="6309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km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UN EJEMPLO SENCILLO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área, 4 rutas, 20 pedidos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784080" y="2834640"/>
            <a:ext cx="7589520" cy="7040880"/>
          </a:xfrm>
          <a:prstGeom prst="roundRect">
            <a:avLst>
              <a:gd name="adj" fmla="val 1558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CFC7B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408176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CFC7B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51560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CFC7B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08176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CFC7B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51560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08176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08176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17936" y="4133088"/>
            <a:ext cx="146304" cy="73152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0972800" y="4864608"/>
            <a:ext cx="91440" cy="201168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0" y="6876288"/>
            <a:ext cx="146304" cy="768096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49456" y="7918704"/>
            <a:ext cx="237744" cy="493776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12124944" y="7370064"/>
            <a:ext cx="128016" cy="91440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2124944" y="5266944"/>
            <a:ext cx="128016" cy="210312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 flipV="1">
            <a:off x="12124944" y="4206240"/>
            <a:ext cx="128016" cy="106070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2124944" y="4169664"/>
            <a:ext cx="2377440" cy="36576"/>
          </a:xfrm>
          <a:prstGeom prst="line">
            <a:avLst/>
          </a:prstGeom>
          <a:noFill/>
          <a:ln w="63500">
            <a:solidFill>
              <a:srgbClr val="C143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502384" y="4169664"/>
            <a:ext cx="402336" cy="69494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887200" y="7004304"/>
            <a:ext cx="2560320" cy="1408176"/>
          </a:xfrm>
          <a:prstGeom prst="line">
            <a:avLst/>
          </a:prstGeom>
          <a:noFill/>
          <a:ln w="63500">
            <a:solidFill>
              <a:srgbClr val="C143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447520" y="7004304"/>
            <a:ext cx="310896" cy="73152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758416" y="7735824"/>
            <a:ext cx="329184" cy="64008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5416784" y="5175504"/>
            <a:ext cx="182880" cy="54864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416784" y="5724144"/>
            <a:ext cx="219456" cy="12801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15453360" y="7004304"/>
            <a:ext cx="182880" cy="8229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53360" y="7827264"/>
            <a:ext cx="329184" cy="585216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673584" y="36941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km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801600" y="801014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km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10817352" y="40325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63656" y="476402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72216" y="67757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18520" y="7543800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48872" y="78181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786616" y="8311896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152376" y="81838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024360" y="72694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152376" y="516636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024360" y="410565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401800" y="40690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04136" y="4764024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4346936" y="69037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57832" y="763524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987016" y="82753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499080" y="50749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316200" y="562356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535656" y="69037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5352776" y="772668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681960" y="8311896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97280" y="3547872"/>
            <a:ext cx="512064" cy="1828"/>
          </a:xfrm>
          <a:prstGeom prst="line">
            <a:avLst/>
          </a:prstGeom>
          <a:noFill/>
          <a:ln w="63500">
            <a:solidFill>
              <a:srgbClr val="4D9D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92224" y="331012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D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1  </a:t>
            </a:r>
            <a:pPr indent="0" marL="0">
              <a:buNone/>
            </a:pPr>
            <a:r>
              <a:rPr lang="en-US" sz="21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km · 4 ped</a:t>
            </a:r>
            <a:endParaRPr lang="en-US" sz="2100" dirty="0"/>
          </a:p>
        </p:txBody>
      </p:sp>
      <p:sp>
        <p:nvSpPr>
          <p:cNvPr id="53" name="Shape 51"/>
          <p:cNvSpPr/>
          <p:nvPr/>
        </p:nvSpPr>
        <p:spPr>
          <a:xfrm>
            <a:off x="1097280" y="4279392"/>
            <a:ext cx="512064" cy="1828"/>
          </a:xfrm>
          <a:prstGeom prst="line">
            <a:avLst/>
          </a:prstGeom>
          <a:noFill/>
          <a:ln w="63500">
            <a:solidFill>
              <a:srgbClr val="8B83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792224" y="404164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8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2  </a:t>
            </a:r>
            <a:pPr indent="0" marL="0">
              <a:buNone/>
            </a:pPr>
            <a:r>
              <a:rPr lang="en-US" sz="21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+ 12 + 1 = 18 km · 6 ped</a:t>
            </a:r>
            <a:endParaRPr lang="en-US" sz="2100" dirty="0"/>
          </a:p>
        </p:txBody>
      </p:sp>
      <p:sp>
        <p:nvSpPr>
          <p:cNvPr id="55" name="Shape 53"/>
          <p:cNvSpPr/>
          <p:nvPr/>
        </p:nvSpPr>
        <p:spPr>
          <a:xfrm>
            <a:off x="1097280" y="5010912"/>
            <a:ext cx="512064" cy="1828"/>
          </a:xfrm>
          <a:prstGeom prst="line">
            <a:avLst/>
          </a:prstGeom>
          <a:noFill/>
          <a:ln w="63500">
            <a:solidFill>
              <a:srgbClr val="EFA13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92224" y="477316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FA1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3  </a:t>
            </a:r>
            <a:pPr indent="0" marL="0">
              <a:buNone/>
            </a:pPr>
            <a:r>
              <a:rPr lang="en-US" sz="21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+ 13 + 3 = 18 km · 5 ped</a:t>
            </a:r>
            <a:endParaRPr lang="en-US" sz="2100" dirty="0"/>
          </a:p>
        </p:txBody>
      </p:sp>
      <p:sp>
        <p:nvSpPr>
          <p:cNvPr id="57" name="Shape 55"/>
          <p:cNvSpPr/>
          <p:nvPr/>
        </p:nvSpPr>
        <p:spPr>
          <a:xfrm>
            <a:off x="1097280" y="5742432"/>
            <a:ext cx="512064" cy="1828"/>
          </a:xfrm>
          <a:prstGeom prst="line">
            <a:avLst/>
          </a:prstGeom>
          <a:noFill/>
          <a:ln w="63500">
            <a:solidFill>
              <a:srgbClr val="DE6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792224" y="550468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E6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4  </a:t>
            </a:r>
            <a:pPr indent="0" marL="0">
              <a:buNone/>
            </a:pPr>
            <a:r>
              <a:rPr lang="en-US" sz="21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km · 5 ped</a:t>
            </a:r>
            <a:endParaRPr lang="en-US" sz="2100" dirty="0"/>
          </a:p>
        </p:txBody>
      </p:sp>
      <p:sp>
        <p:nvSpPr>
          <p:cNvPr id="59" name="Shape 57"/>
          <p:cNvSpPr/>
          <p:nvPr/>
        </p:nvSpPr>
        <p:spPr>
          <a:xfrm>
            <a:off x="1097280" y="6400800"/>
            <a:ext cx="6949440" cy="1828"/>
          </a:xfrm>
          <a:prstGeom prst="line">
            <a:avLst/>
          </a:prstGeom>
          <a:noFill/>
          <a:ln w="25400">
            <a:solidFill>
              <a:srgbClr val="CFC7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97280" y="67665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D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km · 20 pedidos</a:t>
            </a:r>
            <a:endParaRPr lang="en-US" sz="4400" dirty="0"/>
          </a:p>
          <a:p>
            <a:pPr indent="0" marL="0">
              <a:buNone/>
            </a:pPr>
            <a:r>
              <a:rPr lang="en-US" sz="2500" dirty="0">
                <a:solidFill>
                  <a:srgbClr val="6A7A72"/>
                </a:solidFill>
              </a:rPr>
              <a:t>y 25 de esos 50 km son los dos saltos en rojo</a:t>
            </a:r>
            <a:endParaRPr lang="en-US" sz="4400" dirty="0"/>
          </a:p>
        </p:txBody>
      </p:sp>
      <p:sp>
        <p:nvSpPr>
          <p:cNvPr id="61" name="Text 59"/>
          <p:cNvSpPr/>
          <p:nvPr/>
        </p:nvSpPr>
        <p:spPr>
          <a:xfrm>
            <a:off x="1097280" y="8595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mitad del km del día es cruzar, no entregar</a:t>
            </a:r>
            <a:endParaRPr lang="en-US" sz="2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EL PUNTO DE PARTIDA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el km/pedido de hoy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2926080"/>
            <a:ext cx="1609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km son lo mismo: distancias entre pedidos consecutivos, medidas por carretera. En el ejemplo hay 16 desplazamientos; 14 son cortos y 2 son los saltos. El baseline los suma todos y divide entre los pedidos.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011680" y="4754880"/>
            <a:ext cx="14264640" cy="3291840"/>
          </a:xfrm>
          <a:prstGeom prst="roundRect">
            <a:avLst>
              <a:gd name="adj" fmla="val 3333"/>
            </a:avLst>
          </a:prstGeom>
          <a:solidFill>
            <a:srgbClr val="ECE7DC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0" y="530352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D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desplaz. cortos (25 km)</a:t>
            </a:r>
            <a:pPr algn="ctr" indent="0" marL="0">
              <a:buNone/>
            </a:pPr>
            <a:r>
              <a:rPr lang="en-US" sz="3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algn="ctr" indent="0" marL="0">
              <a:buNone/>
            </a:pPr>
            <a:r>
              <a:rPr lang="en-US" sz="3000" b="1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saltos (25 km)</a:t>
            </a:r>
            <a:pPr algn="ctr" indent="0" marL="0">
              <a:buNone/>
            </a:pPr>
            <a:r>
              <a:rPr lang="en-US" sz="3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ctr" indent="0" marL="0">
              <a:buNone/>
            </a:pPr>
            <a:r>
              <a:rPr lang="en-US" sz="3000" b="1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560320" y="6400800"/>
            <a:ext cx="1316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F1D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km ÷ 20 pedidos = </a:t>
            </a:r>
            <a:pPr algn="ctr" indent="0" marL="0">
              <a:buNone/>
            </a:pPr>
            <a:r>
              <a:rPr lang="en-US" sz="5000" b="1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 km/pedido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097280" y="868680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i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número del panel superior de la herramienta: la foto fiel de lo que el área recorre hoy por cada pedido.</a:t>
            </a:r>
            <a:endParaRPr lang="en-US" sz="2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EL MISMO DÍA, CON CORREDORES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Mismas paradas, sin cruces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784080" y="2834640"/>
            <a:ext cx="7589520" cy="7040880"/>
          </a:xfrm>
          <a:prstGeom prst="roundRect">
            <a:avLst>
              <a:gd name="adj" fmla="val 1558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4D9D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4081760" y="362102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D7A5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51560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4D9DE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4081760" y="6455664"/>
            <a:ext cx="2651760" cy="2286000"/>
          </a:xfrm>
          <a:prstGeom prst="roundRect">
            <a:avLst>
              <a:gd name="adj" fmla="val 6400"/>
            </a:avLst>
          </a:prstGeom>
          <a:solidFill>
            <a:srgbClr val="0D0F14">
              <a:alpha val="0"/>
            </a:srgbClr>
          </a:solidFill>
          <a:ln w="25400">
            <a:solidFill>
              <a:srgbClr val="2D7A5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51560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081760" y="31455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081760" y="8778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28011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3624560" y="3529584"/>
            <a:ext cx="1828" cy="5303520"/>
          </a:xfrm>
          <a:prstGeom prst="line">
            <a:avLst/>
          </a:prstGeom>
          <a:noFill/>
          <a:ln w="25400">
            <a:solidFill>
              <a:srgbClr val="6A7A72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 flipV="1">
            <a:off x="12124944" y="4169664"/>
            <a:ext cx="2377440" cy="36576"/>
          </a:xfrm>
          <a:prstGeom prst="line">
            <a:avLst/>
          </a:prstGeom>
          <a:noFill/>
          <a:ln w="31750">
            <a:solidFill>
              <a:srgbClr val="6A7A7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 flipV="1">
            <a:off x="11887200" y="7004304"/>
            <a:ext cx="2560320" cy="1408176"/>
          </a:xfrm>
          <a:prstGeom prst="line">
            <a:avLst/>
          </a:prstGeom>
          <a:noFill/>
          <a:ln w="31750">
            <a:solidFill>
              <a:srgbClr val="6A7A7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307592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2929616" y="7388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10917936" y="4133088"/>
            <a:ext cx="146304" cy="73152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0972800" y="4864608"/>
            <a:ext cx="91440" cy="2011680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0" y="6876288"/>
            <a:ext cx="146304" cy="768096"/>
          </a:xfrm>
          <a:prstGeom prst="line">
            <a:avLst/>
          </a:prstGeom>
          <a:noFill/>
          <a:ln w="57150">
            <a:solidFill>
              <a:srgbClr val="4D9D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9456" y="7918704"/>
            <a:ext cx="237744" cy="493776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12124944" y="7370064"/>
            <a:ext cx="128016" cy="91440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24944" y="5266944"/>
            <a:ext cx="128016" cy="2103120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12124944" y="4206240"/>
            <a:ext cx="128016" cy="106070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502384" y="4169664"/>
            <a:ext cx="402336" cy="694944"/>
          </a:xfrm>
          <a:prstGeom prst="line">
            <a:avLst/>
          </a:prstGeom>
          <a:noFill/>
          <a:ln w="57150">
            <a:solidFill>
              <a:srgbClr val="8B83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5416784" y="5175504"/>
            <a:ext cx="182880" cy="54864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16784" y="5724144"/>
            <a:ext cx="219456" cy="12801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15453360" y="7004304"/>
            <a:ext cx="182880" cy="822960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453360" y="7827264"/>
            <a:ext cx="329184" cy="585216"/>
          </a:xfrm>
          <a:prstGeom prst="line">
            <a:avLst/>
          </a:prstGeom>
          <a:noFill/>
          <a:ln w="57150">
            <a:solidFill>
              <a:srgbClr val="DE6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447520" y="7004304"/>
            <a:ext cx="310896" cy="73152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58416" y="7735824"/>
            <a:ext cx="329184" cy="640080"/>
          </a:xfrm>
          <a:prstGeom prst="line">
            <a:avLst/>
          </a:prstGeom>
          <a:noFill/>
          <a:ln w="57150">
            <a:solidFill>
              <a:srgbClr val="EFA1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817352" y="40325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63656" y="476402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72216" y="6775704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018520" y="7543800"/>
            <a:ext cx="201168" cy="201168"/>
          </a:xfrm>
          <a:prstGeom prst="ellipse">
            <a:avLst/>
          </a:prstGeom>
          <a:solidFill>
            <a:srgbClr val="4D9DE0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8872" y="78181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786616" y="8311896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152376" y="81838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024360" y="72694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152376" y="516636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024360" y="4105656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401800" y="4069080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4804136" y="4764024"/>
            <a:ext cx="201168" cy="201168"/>
          </a:xfrm>
          <a:prstGeom prst="ellipse">
            <a:avLst/>
          </a:prstGeom>
          <a:solidFill>
            <a:srgbClr val="8B83E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346936" y="69037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57832" y="763524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4987016" y="8275320"/>
            <a:ext cx="201168" cy="201168"/>
          </a:xfrm>
          <a:prstGeom prst="ellipse">
            <a:avLst/>
          </a:prstGeom>
          <a:solidFill>
            <a:srgbClr val="EFA13B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499080" y="50749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316200" y="562356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5535656" y="690372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352776" y="7726680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681960" y="8311896"/>
            <a:ext cx="201168" cy="201168"/>
          </a:xfrm>
          <a:prstGeom prst="ellipse">
            <a:avLst/>
          </a:prstGeom>
          <a:solidFill>
            <a:srgbClr val="DE6488"/>
          </a:solidFill>
          <a:ln w="19050">
            <a:solidFill>
              <a:srgbClr val="0D0F1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7280" y="320040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7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20 paradas y sus desplazamientos cortos no cambian. </a:t>
            </a:r>
            <a:endParaRPr lang="en-US" sz="2700" dirty="0"/>
          </a:p>
          <a:p>
            <a:pPr indent="0" marL="0">
              <a:lnSpc>
                <a:spcPct val="113000"/>
              </a:lnSpc>
              <a:buNone/>
            </a:pPr>
            <a:endParaRPr lang="en-US" sz="270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27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corredor solo quita de la cuenta los dos saltos: nadie tiene que cruzar la frontera para entregar. Cómo se organizan las rutas de cada día dentro de su corredor lo sigue decidiendo la operación, como siempre.</a:t>
            </a:r>
            <a:endParaRPr lang="en-US" sz="2700" dirty="0"/>
          </a:p>
        </p:txBody>
      </p:sp>
      <p:sp>
        <p:nvSpPr>
          <p:cNvPr id="53" name="Shape 51"/>
          <p:cNvSpPr/>
          <p:nvPr/>
        </p:nvSpPr>
        <p:spPr>
          <a:xfrm>
            <a:off x="1097280" y="7022592"/>
            <a:ext cx="6949440" cy="1828"/>
          </a:xfrm>
          <a:prstGeom prst="line">
            <a:avLst/>
          </a:prstGeom>
          <a:noFill/>
          <a:ln w="25400">
            <a:solidFill>
              <a:srgbClr val="CFC7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97280" y="7315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0F1D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50 − 25</a:t>
            </a:r>
            <a:pPr indent="0" marL="0">
              <a:buNone/>
            </a:pPr>
            <a:r>
              <a:rPr lang="en-US" sz="2600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saltos </a:t>
            </a:r>
            <a:pPr indent="0" marL="0">
              <a:buNone/>
            </a:pPr>
            <a:r>
              <a:rPr lang="en-US" sz="4200" b="1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25 km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1097280" y="84124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tramos rojos desaparecen del día; nadie vuelve a recorrerlos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LA MEJORA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km/pedido se queda en la mitad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097280" y="3108960"/>
            <a:ext cx="9326880" cy="6035040"/>
          </a:xfrm>
          <a:prstGeom prst="roundRect">
            <a:avLst>
              <a:gd name="adj" fmla="val 1818"/>
            </a:avLst>
          </a:prstGeom>
          <a:solidFill>
            <a:srgbClr val="ECE7DC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35661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F1D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km ÷ 20 pedidos = </a:t>
            </a:r>
            <a:pPr indent="0" marL="0">
              <a:buNone/>
            </a:pPr>
            <a:r>
              <a:rPr lang="en-US" sz="3800" b="1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1.25 km/ped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554480" y="5029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3383280" y="5010912"/>
            <a:ext cx="6217920" cy="658368"/>
          </a:xfrm>
          <a:prstGeom prst="roundRect">
            <a:avLst>
              <a:gd name="adj" fmla="val 13889"/>
            </a:avLst>
          </a:prstGeom>
          <a:solidFill>
            <a:srgbClr val="CFC7B5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501091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D0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54480" y="60716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Corredores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3383280" y="6053328"/>
            <a:ext cx="3108960" cy="658368"/>
          </a:xfrm>
          <a:prstGeom prst="roundRect">
            <a:avLst>
              <a:gd name="adj" fmla="val 13889"/>
            </a:avLst>
          </a:prstGeom>
          <a:solidFill>
            <a:srgbClr val="8FBBA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6053328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D0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554480" y="74066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i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Mismos 20 pedidos. Misma flota de 4 rutas. Solo cambia por dónde se mueven.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972800" y="3108960"/>
            <a:ext cx="6217920" cy="6035040"/>
          </a:xfrm>
          <a:prstGeom prst="roundRect">
            <a:avLst>
              <a:gd name="adj" fmla="val 1818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0" y="4114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0" b="1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 2</a:t>
            </a:r>
            <a:endParaRPr lang="en-US" sz="112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6A7A72"/>
                </a:solidFill>
              </a:rPr>
              <a:t>la mitad de km por pedido</a:t>
            </a:r>
            <a:endParaRPr lang="en-US" sz="11200" dirty="0"/>
          </a:p>
          <a:p>
            <a:pPr algn="ctr" indent="0" marL="0">
              <a:buNone/>
            </a:pPr>
            <a:endParaRPr lang="en-US" sz="11200" dirty="0"/>
          </a:p>
          <a:p>
            <a:pPr algn="ctr" indent="0" marL="0">
              <a:buNone/>
            </a:pPr>
            <a:r>
              <a:rPr lang="en-US" sz="2300" dirty="0">
                <a:solidFill>
                  <a:srgbClr val="6A7A72"/>
                </a:solidFill>
              </a:rPr>
              <a:t>y los minutos por pedido caen en la misma proporción</a:t>
            </a:r>
            <a:endParaRPr lang="en-US" sz="1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6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LA HERRAMIENTA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1426464"/>
            <a:ext cx="1609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CSV al corredor en cuatro pasos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097280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99616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1E4F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99616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99616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99616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CSV del mes de la colmena: rutas, paradas y orden de entrega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266944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0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C143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69280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669280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saltos &gt;10 km, los pinta en el mapa y calcula el baseline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9436608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38944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8B83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38944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B8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838944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838944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corredores de 2, 3 o 4 zonas — o se dibujan a mano en el simulador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13606272" y="3291840"/>
            <a:ext cx="3803904" cy="4937760"/>
          </a:xfrm>
          <a:prstGeom prst="roundRect">
            <a:avLst>
              <a:gd name="adj" fmla="val 2885"/>
            </a:avLst>
          </a:prstGeom>
          <a:solidFill>
            <a:srgbClr val="FBFAF5"/>
          </a:solidFill>
          <a:ln w="25400">
            <a:solidFill>
              <a:srgbClr val="CFC7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008608" y="3749040"/>
            <a:ext cx="914400" cy="914400"/>
          </a:xfrm>
          <a:prstGeom prst="ellipse">
            <a:avLst/>
          </a:prstGeom>
          <a:solidFill>
            <a:srgbClr val="0D0F14">
              <a:alpha val="0"/>
            </a:srgbClr>
          </a:solidFill>
          <a:ln w="44450">
            <a:solidFill>
              <a:srgbClr val="2D7A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08608" y="3749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4008608" y="49743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4008608" y="5705856"/>
            <a:ext cx="30723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3000"/>
              </a:lnSpc>
              <a:buNone/>
            </a:pPr>
            <a:r>
              <a:rPr lang="en-US" sz="23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 y minutos por pedido de cada corredor contra el baseline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1097280" y="877824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con cualquier colmena y cualquier mes: misma herramienta, mismo criterio para toda la red.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766</Words>
  <Application>Microsoft Macintosh PowerPoint</Application>
  <PresentationFormat>Personalizado</PresentationFormat>
  <Paragraphs>128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Carlos Albiach Perez</cp:lastModifiedBy>
  <cp:revision>2</cp:revision>
  <dcterms:created xsi:type="dcterms:W3CDTF">2026-06-10T16:56:37Z</dcterms:created>
  <dcterms:modified xsi:type="dcterms:W3CDTF">2026-06-10T16:59:10Z</dcterms:modified>
</cp:coreProperties>
</file>